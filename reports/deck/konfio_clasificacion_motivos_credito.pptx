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2fdaf7ab-ce45-7944-2cc6-31429c1ab397}">
          <p14:sldIdLst>
            <p14:sldId id="256"/>
            <p14:sldId id="257"/>
          </p14:sldIdLst>
        </p14:section>
        <p14:section name="Negocio" id="{d59c225d-5ba4-5859-3c36-38757d00d6bf}">
          <p14:sldIdLst>
            <p14:sldId id="258"/>
          </p14:sldIdLst>
        </p14:section>
        <p14:section name="Datos" id="{5b7f24da-2df7-ca33-2a8c-c4edd00d34bc}">
          <p14:sldIdLst>
            <p14:sldId id="259"/>
          </p14:sldIdLst>
        </p14:section>
        <p14:section name="Preparación" id="{9100c282-3ec4-ec7c-9eb8-1bbb4c76efec}">
          <p14:sldIdLst>
            <p14:sldId id="260"/>
          </p14:sldIdLst>
        </p14:section>
        <p14:section name="Modelado" id="{4a78c292-db6f-9ff1-9c6e-cd0bc421bf06}">
          <p14:sldIdLst>
            <p14:sldId id="261"/>
            <p14:sldId id="262"/>
          </p14:sldIdLst>
        </p14:section>
        <p14:section name="Evaluación" id="{08e9ed8e-89e7-d942-4dfb-159711acb421}">
          <p14:sldIdLst>
            <p14:sldId id="263"/>
            <p14:sldId id="264"/>
          </p14:sldIdLst>
        </p14:section>
        <p14:section name="Despliegue" id="{dbdf8e26-2cc0-8b17-ff7c-f48ddd814e18}">
          <p14:sldIdLst>
            <p14:sldId id="265"/>
          </p14:sldIdLst>
        </p14:section>
        <p14:section name="Cierre" id="{127311c6-aa0f-0388-a2b5-70baaba6cd3a}">
          <p14:sldIdLst>
            <p14:sldId id="266"/>
          </p14:sldIdLst>
        </p14:section>
        <p14:section name="Apéndice" id="{538763d1-af32-5c7a-2a40-5d4bef654a7c}">
          <p14:sldIdLst>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Konfío me planteó una pregunta concreta: ¿puedo clasificar mejor los motivos de crédito que su solución actual? Voy a responderla primero con números y después recorrer las seis fases de CRISP-DM que me llevaron a esa respuesta.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respuesta es sí, y lo digo con cautela: su 0.06821 viene de otro test, probablemente partido por filas, así que la comparación es indicativa. Lo más sólido es la comparación pareada contra mi línea base en el mismo test, +0.043 de macro F1 con un intervalo que no cruza cero. El tercer número cambia la conversación: casi todo el error que queda está en las etiquetas, no en el modelo.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Konfío pregunta en la solicitud para qué se usará el crédito, y leer miles de respuestas a mano no escala. Dos etiquetas son señales de riesgo, no y cred: pasarlas por alto deja pasar un riesgo, mientras que una falsa alarma cuesta un minuto de revisión. Tomé su solución como la vara a superar y elegí macro F1 para que las etiquetas raras, como temp, cuenten igual que las frecuentes.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archivo trae 47 filas menos que el enunciado y una celda con unos 22 registros pegados, rastro de una exportación CSV rota; los recuperé porque temp, la etiqueta más rara, no puede perder ejemplos. Los 58 grupos de texto idéntico con etiquetas distintas fueron mi primera evidencia de que parte del error estaría en las etiquetas. El desbalance justifica macro F1 y un umbral distinto por etiqueta.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familia de modelos recibe el texto que le conviene: TF-IDF necesita lemas normalizados para juntar variantes de una misma palabra, mientras que el transformer rinde mejor con el texto natural. Además de las features léxicas creé similitudes con el codebook y, en la fase de modelado, embeddings con fine-tuning. Agrupé la partición por texto normalizado porque, si un mismo texto cae en entrenamiento y en evaluación, el modelo se premia por memorizar.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Seguí el punto de partida del enunciado: hice fine-tuning de un e5 multilingüe como extractor de features y entrené LightGBM sobre esas features, lo que dio 0.702 y ya supera a TF-IDF. Pero en el ablation vi que el e5 y TF-IDF se equivocan en respuestas distintas, y una mezcla simple de ambos rinde más, 0.715. Preferí el modelo más simple que gana, y E9b además evita la fuga indirecta que tiene el apilamiento de dos etapas.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primera lección fue que la línea base léxica es fuerte: con umbrales y reglas llega a 0.671. Los embeddings congelados quedan por debajo porque difuminan las palabras clave; con fine-tuning, el encoder aprende esas señales. Umbrales y reglas suman poco, de 0.664 a 0.671: la ganancia viene de la representación. La tabla completa está en el apéndice.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Elegí macro F1 antes de modelar porque la Hamming loss la dominan los negativos: un modelo que no predice nada ya saca 0.114. El test de 988 filas lo usé una sola vez y confirma el orden de CV, 0.732 contra 0.715. La comparación con Konfío es indicativa porque su test es otro, y por eso reporto con cuidado su 67%: según cómo se lea, lo supero con claridad o quedo empatado.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temp, 39% de las respuestas describe financiar el ciclo de cobro y 42% no menciona ni temporada ni ciclo, así que el techo lo pone la definición más que el modelo. En la auditoría, la causa más común es que la respuesta nombra varios usos y el anotador y el modelo eligen subconjuntos distintos. Coincidí con la clasificación automática en 80% de los casos (kappa 0.67), con la salvedad de que la revisé solo y viendo la categoría automática.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abro la demo con make demo, muestro el ejemplo de riesgo cred y escribo una respuesta nueva. needs_review se activa cuando alguna probabilidad queda a 0.1 de su umbral o cuando se predice no o cred, porque ambas cambian la decisión de crédito. Los umbrales actuales maximizan F1; en producción los fijaría el negocio según su costo de error, y dejaría B2 de respaldo cuando importen la latencia o el costo de GPU.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 conclusión es que el modelo ya no es el cuello de botella: definir inv como bienes para reventa e insumos ataca la confusión más grande, equ contra inv, y separar temp resuelve su ambigüedad. Después reetiquetaría las filas que marca cleanlab y usaría un LLM solo como segundo anotador que señale desacuerdos. Todo el código va adjunto: un comando por fase y los resultados se regeneran desde la config congelada.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números son predicciones out-of-fold de CV con intervalos por bootstrap de grupos; el test no participa. Con partición por filas, B2 sube de 0.671 a 0.679: la fuga por duplicados existe pero es pequeña, así que mi ventaja no viene de ahí. Elegí E9b solo con CV y evalué el test una vez; la configuración evaluada está verificada por hash.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IDO">
    <p:bg>
      <p:bgPr>
        <a:solidFill>
          <a:srgbClr val="140527"/>
        </a:solidFill>
      </p:bgPr>
    </p:bg>
    <p:spTree>
      <p:nvGrpSpPr>
        <p:cNvPr id="1" name=""/>
        <p:cNvGrpSpPr/>
        <p:nvPr/>
      </p:nvGrpSpPr>
      <p:grpSpPr>
        <a:xfrm>
          <a:off x="0" y="0"/>
          <a:ext cx="0" cy="0"/>
          <a:chOff x="0" y="0"/>
          <a:chExt cx="0" cy="0"/>
        </a:xfrm>
      </p:grpSpPr>
      <p:pic>
        <p:nvPicPr>
          <p:cNvPr id="2" name="Image 0" descr="/root/.claude/uploads/5f9fae4f-d7a9-5d0e-a637-2087b499e92a/e5413598-image.png">    </p:cNvPr>
          <p:cNvPicPr>
            <a:picLocks noChangeAspect="1"/>
          </p:cNvPicPr>
          <p:nvPr/>
        </p:nvPicPr>
        <p:blipFill>
          <a:blip r:embed="rId1"/>
          <a:stretch>
            <a:fillRect/>
          </a:stretch>
        </p:blipFill>
        <p:spPr>
          <a:xfrm>
            <a:off x="11292840" y="6236208"/>
            <a:ext cx="365760" cy="365760"/>
          </a:xfrm>
          <a:prstGeom prst="rect">
            <a:avLst/>
          </a:prstGeom>
        </p:spPr>
      </p:pic>
      <p:sp>
        <p:nvSpPr>
          <p:cNvPr id="3" name="Text 0"/>
          <p:cNvSpPr/>
          <p:nvPr>
            <p:ph idx="101" type="title" hasCustomPrompt="1"/>
          </p:nvPr>
        </p:nvSpPr>
        <p:spPr>
          <a:xfrm>
            <a:off x="548640" y="658368"/>
            <a:ext cx="11064240" cy="960120"/>
          </a:xfrm>
          <a:prstGeom prst="rect">
            <a:avLst/>
          </a:prstGeom>
          <a:noFill/>
          <a:ln/>
        </p:spPr>
        <p:txBody>
          <a:bodyPr wrap="square" rtlCol="0"/>
          <a:lstStyle>
            <a:lvl1pPr algn="l" indent="0" marL="0">
              <a:buNone/>
              <a:defRPr lang="en-US" sz="2500" b="1" dirty="0">
                <a:solidFill>
                  <a:srgbClr val="F2EEF8"/>
                </a:solidFill>
                <a:latin typeface="Arial" pitchFamily="34" charset="0"/>
                <a:ea typeface="Arial" pitchFamily="34" charset="-122"/>
                <a:cs typeface="Arial" pitchFamily="34" charset="-120"/>
              </a:defRPr>
            </a:lvl1pPr>
          </a:lstStyle>
          <a:p>
            <a:pPr algn="l" indent="0" marL="0">
              <a:buNone/>
            </a:pPr>
            <a:endParaRPr lang="en-US" sz="25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ORTADA">
    <p:bg>
      <p:bgPr>
        <a:solidFill>
          <a:srgbClr val="140527"/>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oot/.claude/uploads/5f9fae4f-d7a9-5d0e-a637-2087b499e92a/e5413598-image.png">    </p:cNvPr>
          <p:cNvPicPr>
            <a:picLocks noChangeAspect="1"/>
          </p:cNvPicPr>
          <p:nvPr/>
        </p:nvPicPr>
        <p:blipFill>
          <a:blip r:embed="rId1"/>
          <a:stretch>
            <a:fillRect/>
          </a:stretch>
        </p:blipFill>
        <p:spPr>
          <a:xfrm>
            <a:off x="685800" y="685800"/>
            <a:ext cx="1051560" cy="1051560"/>
          </a:xfrm>
          <a:prstGeom prst="rect">
            <a:avLst/>
          </a:prstGeom>
        </p:spPr>
      </p:pic>
      <p:sp>
        <p:nvSpPr>
          <p:cNvPr id="3" name="Text 0"/>
          <p:cNvSpPr txBox="1"/>
          <p:nvPr/>
        </p:nvSpPr>
        <p:spPr>
          <a:xfrm>
            <a:off x="731520" y="2331720"/>
            <a:ext cx="8229600" cy="320040"/>
          </a:xfrm>
          <a:prstGeom prst="rect">
            <a:avLst/>
          </a:prstGeom>
          <a:noFill/>
          <a:ln/>
        </p:spPr>
        <p:txBody>
          <a:bodyPr wrap="square" lIns="0" tIns="0" rIns="0" bIns="0" rtlCol="0" anchor="t"/>
          <a:lstStyle/>
          <a:p>
            <a:pPr indent="0" marL="0">
              <a:buNone/>
            </a:pPr>
            <a:r>
              <a:rPr lang="en-US" sz="1300" b="1" spc="300" kern="0" dirty="0">
                <a:solidFill>
                  <a:srgbClr val="AD82FB"/>
                </a:solidFill>
                <a:latin typeface="Arial" pitchFamily="34" charset="0"/>
                <a:ea typeface="Arial" pitchFamily="34" charset="-122"/>
                <a:cs typeface="Arial" pitchFamily="34" charset="-120"/>
              </a:rPr>
              <a:t>EJERCICIO DATA SCIENTIST · CRISP-DM</a:t>
            </a:r>
            <a:endParaRPr lang="en-US" sz="1300" dirty="0"/>
          </a:p>
        </p:txBody>
      </p:sp>
      <p:sp>
        <p:nvSpPr>
          <p:cNvPr id="4" name="Text 1"/>
          <p:cNvSpPr txBox="1"/>
          <p:nvPr/>
        </p:nvSpPr>
        <p:spPr>
          <a:xfrm>
            <a:off x="685800" y="2743200"/>
            <a:ext cx="9601200" cy="1463040"/>
          </a:xfrm>
          <a:prstGeom prst="rect">
            <a:avLst/>
          </a:prstGeom>
          <a:noFill/>
          <a:ln/>
        </p:spPr>
        <p:txBody>
          <a:bodyPr wrap="square" lIns="0" tIns="0" rIns="0" bIns="0" rtlCol="0" anchor="t"/>
          <a:lstStyle/>
          <a:p>
            <a:pPr indent="0" marL="0">
              <a:buNone/>
            </a:pPr>
            <a:r>
              <a:rPr lang="en-US" sz="4400" b="1" dirty="0">
                <a:solidFill>
                  <a:srgbClr val="F2EEF8"/>
                </a:solidFill>
                <a:latin typeface="Arial" pitchFamily="34" charset="0"/>
                <a:ea typeface="Arial" pitchFamily="34" charset="-122"/>
                <a:cs typeface="Arial" pitchFamily="34" charset="-120"/>
              </a:rPr>
              <a:t>¿Se puede clasificar mejor el destino del crédito?</a:t>
            </a:r>
            <a:endParaRPr lang="en-US" sz="4400" dirty="0"/>
          </a:p>
        </p:txBody>
      </p:sp>
      <p:sp>
        <p:nvSpPr>
          <p:cNvPr id="5" name="Text 2"/>
          <p:cNvSpPr txBox="1"/>
          <p:nvPr/>
        </p:nvSpPr>
        <p:spPr>
          <a:xfrm>
            <a:off x="731520" y="4251960"/>
            <a:ext cx="8686800" cy="731520"/>
          </a:xfrm>
          <a:prstGeom prst="rect">
            <a:avLst/>
          </a:prstGeom>
          <a:noFill/>
          <a:ln/>
        </p:spPr>
        <p:txBody>
          <a:bodyPr wrap="square" lIns="0" tIns="0" rIns="0" bIns="0" rtlCol="0" anchor="t"/>
          <a:lstStyle/>
          <a:p>
            <a:pPr indent="0" marL="0">
              <a:buNone/>
            </a:pPr>
            <a:r>
              <a:rPr lang="en-US" sz="1800" dirty="0">
                <a:solidFill>
                  <a:srgbClr val="B9AECF"/>
                </a:solidFill>
                <a:latin typeface="Arial" pitchFamily="34" charset="0"/>
                <a:ea typeface="Arial" pitchFamily="34" charset="-122"/>
                <a:cs typeface="Arial" pitchFamily="34" charset="-120"/>
              </a:rPr>
              <a:t>Clasificación multietiqueta de los motivos de crédito de solicitudes PyME, en texto libre y en español</a:t>
            </a:r>
            <a:endParaRPr lang="en-US" sz="1800" dirty="0"/>
          </a:p>
        </p:txBody>
      </p:sp>
      <p:sp>
        <p:nvSpPr>
          <p:cNvPr id="6" name="Shape 3"/>
          <p:cNvSpPr/>
          <p:nvPr/>
        </p:nvSpPr>
        <p:spPr>
          <a:xfrm>
            <a:off x="731520" y="5532120"/>
            <a:ext cx="118872" cy="118872"/>
          </a:xfrm>
          <a:prstGeom prst="ellipse">
            <a:avLst/>
          </a:prstGeom>
          <a:solidFill>
            <a:srgbClr val="8644F9"/>
          </a:solidFill>
          <a:ln w="12700">
            <a:solidFill>
              <a:srgbClr val="8644F9"/>
            </a:solidFill>
            <a:prstDash val="solid"/>
          </a:ln>
        </p:spPr>
      </p:sp>
      <p:sp>
        <p:nvSpPr>
          <p:cNvPr id="7" name="Text 4"/>
          <p:cNvSpPr txBox="1"/>
          <p:nvPr/>
        </p:nvSpPr>
        <p:spPr>
          <a:xfrm>
            <a:off x="960120" y="5440680"/>
            <a:ext cx="7315200" cy="320040"/>
          </a:xfrm>
          <a:prstGeom prst="rect">
            <a:avLst/>
          </a:prstGeom>
          <a:noFill/>
          <a:ln/>
        </p:spPr>
        <p:txBody>
          <a:bodyPr wrap="square" lIns="0" tIns="0" rIns="0" bIns="0" rtlCol="0" anchor="t"/>
          <a:lstStyle/>
          <a:p>
            <a:pPr indent="0" marL="0">
              <a:buNone/>
            </a:pPr>
            <a:r>
              <a:rPr lang="en-US" sz="1400" dirty="0">
                <a:solidFill>
                  <a:srgbClr val="F2EEF8"/>
                </a:solidFill>
                <a:latin typeface="Arial" pitchFamily="34" charset="0"/>
                <a:ea typeface="Arial" pitchFamily="34" charset="-122"/>
                <a:cs typeface="Arial" pitchFamily="34" charset="-120"/>
              </a:rPr>
              <a:t>Edwin Aldair Espinoza  ·  Octubre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LA RESPUESTA CORTA</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Sí: con una evaluación más estricta, bajé la Hamming loss de 0.0682 a 0.0521</a:t>
            </a:r>
            <a:endParaRPr lang="en-US" sz="2500" dirty="0"/>
          </a:p>
        </p:txBody>
      </p:sp>
      <p:sp>
        <p:nvSpPr>
          <p:cNvPr id="5" name="Shape 3"/>
          <p:cNvSpPr/>
          <p:nvPr/>
        </p:nvSpPr>
        <p:spPr>
          <a:xfrm>
            <a:off x="548640" y="1874520"/>
            <a:ext cx="3520440" cy="2331720"/>
          </a:xfrm>
          <a:prstGeom prst="roundRect">
            <a:avLst>
              <a:gd name="adj" fmla="val 4706"/>
            </a:avLst>
          </a:prstGeom>
          <a:solidFill>
            <a:srgbClr val="21103D"/>
          </a:solidFill>
          <a:ln w="12700">
            <a:solidFill>
              <a:srgbClr val="21103D"/>
            </a:solidFill>
            <a:prstDash val="solid"/>
          </a:ln>
        </p:spPr>
      </p:sp>
      <p:sp>
        <p:nvSpPr>
          <p:cNvPr id="6" name="Text 4"/>
          <p:cNvSpPr txBox="1"/>
          <p:nvPr/>
        </p:nvSpPr>
        <p:spPr>
          <a:xfrm>
            <a:off x="822960" y="2057400"/>
            <a:ext cx="3017520" cy="914400"/>
          </a:xfrm>
          <a:prstGeom prst="rect">
            <a:avLst/>
          </a:prstGeom>
          <a:noFill/>
          <a:ln/>
        </p:spPr>
        <p:txBody>
          <a:bodyPr wrap="square" lIns="0" tIns="0" rIns="0" bIns="0" rtlCol="0" anchor="t"/>
          <a:lstStyle/>
          <a:p>
            <a:pPr indent="0" marL="0">
              <a:buNone/>
            </a:pPr>
            <a:r>
              <a:rPr lang="en-US" sz="5400" b="1" dirty="0">
                <a:solidFill>
                  <a:srgbClr val="8644F9"/>
                </a:solidFill>
                <a:latin typeface="Arial" pitchFamily="34" charset="0"/>
                <a:ea typeface="Arial" pitchFamily="34" charset="-122"/>
                <a:cs typeface="Arial" pitchFamily="34" charset="-120"/>
              </a:rPr>
              <a:t>0.0521</a:t>
            </a:r>
            <a:endParaRPr lang="en-US" sz="5400" dirty="0"/>
          </a:p>
        </p:txBody>
      </p:sp>
      <p:sp>
        <p:nvSpPr>
          <p:cNvPr id="7" name="Text 5"/>
          <p:cNvSpPr txBox="1"/>
          <p:nvPr/>
        </p:nvSpPr>
        <p:spPr>
          <a:xfrm>
            <a:off x="822960" y="3017520"/>
            <a:ext cx="3017520" cy="320040"/>
          </a:xfrm>
          <a:prstGeom prst="rect">
            <a:avLst/>
          </a:prstGeom>
          <a:noFill/>
          <a:ln/>
        </p:spPr>
        <p:txBody>
          <a:bodyPr wrap="square" lIns="0" tIns="0" rIns="0" bIns="0" rtlCol="0" anchor="t"/>
          <a:lstStyle/>
          <a:p>
            <a:pPr indent="0" marL="0">
              <a:buNone/>
            </a:pPr>
            <a:r>
              <a:rPr lang="en-US" sz="1500" b="1" dirty="0">
                <a:solidFill>
                  <a:srgbClr val="F2EEF8"/>
                </a:solidFill>
                <a:latin typeface="Arial" pitchFamily="34" charset="0"/>
                <a:ea typeface="Arial" pitchFamily="34" charset="-122"/>
                <a:cs typeface="Arial" pitchFamily="34" charset="-120"/>
              </a:rPr>
              <a:t>Hamming loss en test</a:t>
            </a:r>
            <a:endParaRPr lang="en-US" sz="1500" dirty="0"/>
          </a:p>
        </p:txBody>
      </p:sp>
      <p:sp>
        <p:nvSpPr>
          <p:cNvPr id="8" name="Text 6"/>
          <p:cNvSpPr txBox="1"/>
          <p:nvPr/>
        </p:nvSpPr>
        <p:spPr>
          <a:xfrm>
            <a:off x="822960" y="3364992"/>
            <a:ext cx="3017520" cy="7315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contra 0.0682 reportado por Konfío; mi IC 95% llega a 0.0571</a:t>
            </a:r>
            <a:endParaRPr lang="en-US" sz="1200" dirty="0"/>
          </a:p>
        </p:txBody>
      </p:sp>
      <p:sp>
        <p:nvSpPr>
          <p:cNvPr id="9" name="Shape 7"/>
          <p:cNvSpPr/>
          <p:nvPr/>
        </p:nvSpPr>
        <p:spPr>
          <a:xfrm>
            <a:off x="4297680" y="1874520"/>
            <a:ext cx="3520440" cy="2331720"/>
          </a:xfrm>
          <a:prstGeom prst="roundRect">
            <a:avLst>
              <a:gd name="adj" fmla="val 4706"/>
            </a:avLst>
          </a:prstGeom>
          <a:solidFill>
            <a:srgbClr val="21103D"/>
          </a:solidFill>
          <a:ln w="12700">
            <a:solidFill>
              <a:srgbClr val="21103D"/>
            </a:solidFill>
            <a:prstDash val="solid"/>
          </a:ln>
        </p:spPr>
      </p:sp>
      <p:sp>
        <p:nvSpPr>
          <p:cNvPr id="10" name="Text 8"/>
          <p:cNvSpPr txBox="1"/>
          <p:nvPr/>
        </p:nvSpPr>
        <p:spPr>
          <a:xfrm>
            <a:off x="4572000" y="2057400"/>
            <a:ext cx="3017520" cy="914400"/>
          </a:xfrm>
          <a:prstGeom prst="rect">
            <a:avLst/>
          </a:prstGeom>
          <a:noFill/>
          <a:ln/>
        </p:spPr>
        <p:txBody>
          <a:bodyPr wrap="square" lIns="0" tIns="0" rIns="0" bIns="0" rtlCol="0" anchor="t"/>
          <a:lstStyle/>
          <a:p>
            <a:pPr indent="0" marL="0">
              <a:buNone/>
            </a:pPr>
            <a:r>
              <a:rPr lang="en-US" sz="5400" b="1" dirty="0">
                <a:solidFill>
                  <a:srgbClr val="8644F9"/>
                </a:solidFill>
                <a:latin typeface="Arial" pitchFamily="34" charset="0"/>
                <a:ea typeface="Arial" pitchFamily="34" charset="-122"/>
                <a:cs typeface="Arial" pitchFamily="34" charset="-120"/>
              </a:rPr>
              <a:t>0.732</a:t>
            </a:r>
            <a:endParaRPr lang="en-US" sz="5400" dirty="0"/>
          </a:p>
        </p:txBody>
      </p:sp>
      <p:sp>
        <p:nvSpPr>
          <p:cNvPr id="11" name="Text 9"/>
          <p:cNvSpPr txBox="1"/>
          <p:nvPr/>
        </p:nvSpPr>
        <p:spPr>
          <a:xfrm>
            <a:off x="4572000" y="3017520"/>
            <a:ext cx="3017520" cy="320040"/>
          </a:xfrm>
          <a:prstGeom prst="rect">
            <a:avLst/>
          </a:prstGeom>
          <a:noFill/>
          <a:ln/>
        </p:spPr>
        <p:txBody>
          <a:bodyPr wrap="square" lIns="0" tIns="0" rIns="0" bIns="0" rtlCol="0" anchor="t"/>
          <a:lstStyle/>
          <a:p>
            <a:pPr indent="0" marL="0">
              <a:buNone/>
            </a:pPr>
            <a:r>
              <a:rPr lang="en-US" sz="1500" b="1" dirty="0">
                <a:solidFill>
                  <a:srgbClr val="F2EEF8"/>
                </a:solidFill>
                <a:latin typeface="Arial" pitchFamily="34" charset="0"/>
                <a:ea typeface="Arial" pitchFamily="34" charset="-122"/>
                <a:cs typeface="Arial" pitchFamily="34" charset="-120"/>
              </a:rPr>
              <a:t>Macro F1 en test</a:t>
            </a:r>
            <a:endParaRPr lang="en-US" sz="1500" dirty="0"/>
          </a:p>
        </p:txBody>
      </p:sp>
      <p:sp>
        <p:nvSpPr>
          <p:cNvPr id="12" name="Text 10"/>
          <p:cNvSpPr txBox="1"/>
          <p:nvPr/>
        </p:nvSpPr>
        <p:spPr>
          <a:xfrm>
            <a:off x="4572000" y="3364992"/>
            <a:ext cx="3017520" cy="7315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+0.043 [+0.020, +0.065] sobre mi propia línea base TF-IDF</a:t>
            </a:r>
            <a:endParaRPr lang="en-US" sz="1200" dirty="0"/>
          </a:p>
        </p:txBody>
      </p:sp>
      <p:sp>
        <p:nvSpPr>
          <p:cNvPr id="13" name="Shape 11"/>
          <p:cNvSpPr/>
          <p:nvPr/>
        </p:nvSpPr>
        <p:spPr>
          <a:xfrm>
            <a:off x="8046720" y="1874520"/>
            <a:ext cx="3520440" cy="2331720"/>
          </a:xfrm>
          <a:prstGeom prst="roundRect">
            <a:avLst>
              <a:gd name="adj" fmla="val 4706"/>
            </a:avLst>
          </a:prstGeom>
          <a:solidFill>
            <a:srgbClr val="21103D"/>
          </a:solidFill>
          <a:ln w="12700">
            <a:solidFill>
              <a:srgbClr val="21103D"/>
            </a:solidFill>
            <a:prstDash val="solid"/>
          </a:ln>
        </p:spPr>
      </p:sp>
      <p:sp>
        <p:nvSpPr>
          <p:cNvPr id="14" name="Text 12"/>
          <p:cNvSpPr txBox="1"/>
          <p:nvPr/>
        </p:nvSpPr>
        <p:spPr>
          <a:xfrm>
            <a:off x="8321040" y="2057400"/>
            <a:ext cx="3017520" cy="914400"/>
          </a:xfrm>
          <a:prstGeom prst="rect">
            <a:avLst/>
          </a:prstGeom>
          <a:noFill/>
          <a:ln/>
        </p:spPr>
        <p:txBody>
          <a:bodyPr wrap="square" lIns="0" tIns="0" rIns="0" bIns="0" rtlCol="0" anchor="t"/>
          <a:lstStyle/>
          <a:p>
            <a:pPr indent="0" marL="0">
              <a:buNone/>
            </a:pPr>
            <a:r>
              <a:rPr lang="en-US" sz="5400" b="1" dirty="0">
                <a:solidFill>
                  <a:srgbClr val="AD82FB"/>
                </a:solidFill>
                <a:latin typeface="Arial" pitchFamily="34" charset="0"/>
                <a:ea typeface="Arial" pitchFamily="34" charset="-122"/>
                <a:cs typeface="Arial" pitchFamily="34" charset="-120"/>
              </a:rPr>
              <a:t>12%</a:t>
            </a:r>
            <a:endParaRPr lang="en-US" sz="5400" dirty="0"/>
          </a:p>
        </p:txBody>
      </p:sp>
      <p:sp>
        <p:nvSpPr>
          <p:cNvPr id="15" name="Text 13"/>
          <p:cNvSpPr txBox="1"/>
          <p:nvPr/>
        </p:nvSpPr>
        <p:spPr>
          <a:xfrm>
            <a:off x="8321040" y="3017520"/>
            <a:ext cx="3017520" cy="320040"/>
          </a:xfrm>
          <a:prstGeom prst="rect">
            <a:avLst/>
          </a:prstGeom>
          <a:noFill/>
          <a:ln/>
        </p:spPr>
        <p:txBody>
          <a:bodyPr wrap="square" lIns="0" tIns="0" rIns="0" bIns="0" rtlCol="0" anchor="t"/>
          <a:lstStyle/>
          <a:p>
            <a:pPr indent="0" marL="0">
              <a:buNone/>
            </a:pPr>
            <a:r>
              <a:rPr lang="en-US" sz="1500" b="1" dirty="0">
                <a:solidFill>
                  <a:srgbClr val="F2EEF8"/>
                </a:solidFill>
                <a:latin typeface="Arial" pitchFamily="34" charset="0"/>
                <a:ea typeface="Arial" pitchFamily="34" charset="-122"/>
                <a:cs typeface="Arial" pitchFamily="34" charset="-120"/>
              </a:rPr>
              <a:t>del error restante es del modelo</a:t>
            </a:r>
            <a:endParaRPr lang="en-US" sz="1500" dirty="0"/>
          </a:p>
        </p:txBody>
      </p:sp>
      <p:sp>
        <p:nvSpPr>
          <p:cNvPr id="16" name="Text 14"/>
          <p:cNvSpPr txBox="1"/>
          <p:nvPr/>
        </p:nvSpPr>
        <p:spPr>
          <a:xfrm>
            <a:off x="8321040" y="3364992"/>
            <a:ext cx="3017520" cy="7315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el resto viene de la convención de etiquetado y del ruido en las etiquetas</a:t>
            </a:r>
            <a:endParaRPr lang="en-US" sz="1200" dirty="0"/>
          </a:p>
        </p:txBody>
      </p:sp>
      <p:sp>
        <p:nvSpPr>
          <p:cNvPr id="17" name="Text 15"/>
          <p:cNvSpPr txBox="1"/>
          <p:nvPr/>
        </p:nvSpPr>
        <p:spPr>
          <a:xfrm>
            <a:off x="548640" y="4572000"/>
            <a:ext cx="54864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RECORRIDO CRISP-DM</a:t>
            </a:r>
            <a:endParaRPr lang="en-US" sz="1100" dirty="0"/>
          </a:p>
        </p:txBody>
      </p:sp>
      <p:sp>
        <p:nvSpPr>
          <p:cNvPr id="18" name="Shape 16"/>
          <p:cNvSpPr/>
          <p:nvPr/>
        </p:nvSpPr>
        <p:spPr>
          <a:xfrm>
            <a:off x="548640" y="4937760"/>
            <a:ext cx="1737360" cy="960120"/>
          </a:xfrm>
          <a:prstGeom prst="roundRect">
            <a:avLst>
              <a:gd name="adj" fmla="val 9524"/>
            </a:avLst>
          </a:prstGeom>
          <a:solidFill>
            <a:srgbClr val="21103D"/>
          </a:solidFill>
          <a:ln w="12700">
            <a:solidFill>
              <a:srgbClr val="3A2566"/>
            </a:solidFill>
            <a:prstDash val="solid"/>
          </a:ln>
        </p:spPr>
      </p:sp>
      <p:sp>
        <p:nvSpPr>
          <p:cNvPr id="19" name="Shape 17"/>
          <p:cNvSpPr/>
          <p:nvPr/>
        </p:nvSpPr>
        <p:spPr>
          <a:xfrm>
            <a:off x="685800" y="5074920"/>
            <a:ext cx="329184" cy="329184"/>
          </a:xfrm>
          <a:prstGeom prst="ellipse">
            <a:avLst/>
          </a:prstGeom>
          <a:solidFill>
            <a:srgbClr val="8644F9"/>
          </a:solidFill>
          <a:ln w="12700">
            <a:solidFill>
              <a:srgbClr val="8644F9"/>
            </a:solidFill>
            <a:prstDash val="solid"/>
          </a:ln>
        </p:spPr>
      </p:sp>
      <p:sp>
        <p:nvSpPr>
          <p:cNvPr id="20" name="Text 18"/>
          <p:cNvSpPr txBox="1"/>
          <p:nvPr/>
        </p:nvSpPr>
        <p:spPr>
          <a:xfrm>
            <a:off x="685800" y="5074920"/>
            <a:ext cx="329184" cy="329184"/>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1</a:t>
            </a:r>
            <a:endParaRPr lang="en-US" sz="1200" dirty="0"/>
          </a:p>
        </p:txBody>
      </p:sp>
      <p:sp>
        <p:nvSpPr>
          <p:cNvPr id="21" name="Text 19"/>
          <p:cNvSpPr txBox="1"/>
          <p:nvPr/>
        </p:nvSpPr>
        <p:spPr>
          <a:xfrm>
            <a:off x="1097280" y="5093208"/>
            <a:ext cx="1143000" cy="292608"/>
          </a:xfrm>
          <a:prstGeom prst="rect">
            <a:avLst/>
          </a:prstGeom>
          <a:noFill/>
          <a:ln/>
        </p:spPr>
        <p:txBody>
          <a:bodyPr wrap="square" lIns="0" tIns="0" rIns="0" bIns="0" rtlCol="0" anchor="ctr"/>
          <a:lstStyle/>
          <a:p>
            <a:pPr indent="0" marL="0">
              <a:buNone/>
            </a:pPr>
            <a:r>
              <a:rPr lang="en-US" sz="1300" b="1" dirty="0">
                <a:solidFill>
                  <a:srgbClr val="F2EEF8"/>
                </a:solidFill>
                <a:latin typeface="Arial" pitchFamily="34" charset="0"/>
                <a:ea typeface="Arial" pitchFamily="34" charset="-122"/>
                <a:cs typeface="Arial" pitchFamily="34" charset="-120"/>
              </a:rPr>
              <a:t>Negocio</a:t>
            </a:r>
            <a:endParaRPr lang="en-US" sz="1300" dirty="0"/>
          </a:p>
        </p:txBody>
      </p:sp>
      <p:sp>
        <p:nvSpPr>
          <p:cNvPr id="22" name="Text 20"/>
          <p:cNvSpPr txBox="1"/>
          <p:nvPr/>
        </p:nvSpPr>
        <p:spPr>
          <a:xfrm>
            <a:off x="685800" y="5504688"/>
            <a:ext cx="1463040" cy="256032"/>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slide 3</a:t>
            </a:r>
            <a:endParaRPr lang="en-US" sz="1100" dirty="0"/>
          </a:p>
        </p:txBody>
      </p:sp>
      <p:sp>
        <p:nvSpPr>
          <p:cNvPr id="23" name="Shape 21"/>
          <p:cNvSpPr/>
          <p:nvPr/>
        </p:nvSpPr>
        <p:spPr>
          <a:xfrm>
            <a:off x="2423160" y="4937760"/>
            <a:ext cx="1737360" cy="960120"/>
          </a:xfrm>
          <a:prstGeom prst="roundRect">
            <a:avLst>
              <a:gd name="adj" fmla="val 9524"/>
            </a:avLst>
          </a:prstGeom>
          <a:solidFill>
            <a:srgbClr val="21103D"/>
          </a:solidFill>
          <a:ln w="12700">
            <a:solidFill>
              <a:srgbClr val="3A2566"/>
            </a:solidFill>
            <a:prstDash val="solid"/>
          </a:ln>
        </p:spPr>
      </p:sp>
      <p:sp>
        <p:nvSpPr>
          <p:cNvPr id="24" name="Shape 22"/>
          <p:cNvSpPr/>
          <p:nvPr/>
        </p:nvSpPr>
        <p:spPr>
          <a:xfrm>
            <a:off x="2560320" y="5074920"/>
            <a:ext cx="329184" cy="329184"/>
          </a:xfrm>
          <a:prstGeom prst="ellipse">
            <a:avLst/>
          </a:prstGeom>
          <a:solidFill>
            <a:srgbClr val="8644F9"/>
          </a:solidFill>
          <a:ln w="12700">
            <a:solidFill>
              <a:srgbClr val="8644F9"/>
            </a:solidFill>
            <a:prstDash val="solid"/>
          </a:ln>
        </p:spPr>
      </p:sp>
      <p:sp>
        <p:nvSpPr>
          <p:cNvPr id="25" name="Text 23"/>
          <p:cNvSpPr txBox="1"/>
          <p:nvPr/>
        </p:nvSpPr>
        <p:spPr>
          <a:xfrm>
            <a:off x="2560320" y="5074920"/>
            <a:ext cx="329184" cy="329184"/>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2</a:t>
            </a:r>
            <a:endParaRPr lang="en-US" sz="1200" dirty="0"/>
          </a:p>
        </p:txBody>
      </p:sp>
      <p:sp>
        <p:nvSpPr>
          <p:cNvPr id="26" name="Text 24"/>
          <p:cNvSpPr txBox="1"/>
          <p:nvPr/>
        </p:nvSpPr>
        <p:spPr>
          <a:xfrm>
            <a:off x="2971800" y="5093208"/>
            <a:ext cx="1143000" cy="292608"/>
          </a:xfrm>
          <a:prstGeom prst="rect">
            <a:avLst/>
          </a:prstGeom>
          <a:noFill/>
          <a:ln/>
        </p:spPr>
        <p:txBody>
          <a:bodyPr wrap="square" lIns="0" tIns="0" rIns="0" bIns="0" rtlCol="0" anchor="ctr"/>
          <a:lstStyle/>
          <a:p>
            <a:pPr indent="0" marL="0">
              <a:buNone/>
            </a:pPr>
            <a:r>
              <a:rPr lang="en-US" sz="1300" b="1" dirty="0">
                <a:solidFill>
                  <a:srgbClr val="F2EEF8"/>
                </a:solidFill>
                <a:latin typeface="Arial" pitchFamily="34" charset="0"/>
                <a:ea typeface="Arial" pitchFamily="34" charset="-122"/>
                <a:cs typeface="Arial" pitchFamily="34" charset="-120"/>
              </a:rPr>
              <a:t>Datos</a:t>
            </a:r>
            <a:endParaRPr lang="en-US" sz="1300" dirty="0"/>
          </a:p>
        </p:txBody>
      </p:sp>
      <p:sp>
        <p:nvSpPr>
          <p:cNvPr id="27" name="Text 25"/>
          <p:cNvSpPr txBox="1"/>
          <p:nvPr/>
        </p:nvSpPr>
        <p:spPr>
          <a:xfrm>
            <a:off x="2560320" y="5504688"/>
            <a:ext cx="1463040" cy="256032"/>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slide 4</a:t>
            </a:r>
            <a:endParaRPr lang="en-US" sz="1100" dirty="0"/>
          </a:p>
        </p:txBody>
      </p:sp>
      <p:sp>
        <p:nvSpPr>
          <p:cNvPr id="28" name="Shape 26"/>
          <p:cNvSpPr/>
          <p:nvPr/>
        </p:nvSpPr>
        <p:spPr>
          <a:xfrm>
            <a:off x="4297680" y="4937760"/>
            <a:ext cx="1737360" cy="960120"/>
          </a:xfrm>
          <a:prstGeom prst="roundRect">
            <a:avLst>
              <a:gd name="adj" fmla="val 9524"/>
            </a:avLst>
          </a:prstGeom>
          <a:solidFill>
            <a:srgbClr val="21103D"/>
          </a:solidFill>
          <a:ln w="12700">
            <a:solidFill>
              <a:srgbClr val="3A2566"/>
            </a:solidFill>
            <a:prstDash val="solid"/>
          </a:ln>
        </p:spPr>
      </p:sp>
      <p:sp>
        <p:nvSpPr>
          <p:cNvPr id="29" name="Shape 27"/>
          <p:cNvSpPr/>
          <p:nvPr/>
        </p:nvSpPr>
        <p:spPr>
          <a:xfrm>
            <a:off x="4434840" y="5074920"/>
            <a:ext cx="329184" cy="329184"/>
          </a:xfrm>
          <a:prstGeom prst="ellipse">
            <a:avLst/>
          </a:prstGeom>
          <a:solidFill>
            <a:srgbClr val="8644F9"/>
          </a:solidFill>
          <a:ln w="12700">
            <a:solidFill>
              <a:srgbClr val="8644F9"/>
            </a:solidFill>
            <a:prstDash val="solid"/>
          </a:ln>
        </p:spPr>
      </p:sp>
      <p:sp>
        <p:nvSpPr>
          <p:cNvPr id="30" name="Text 28"/>
          <p:cNvSpPr txBox="1"/>
          <p:nvPr/>
        </p:nvSpPr>
        <p:spPr>
          <a:xfrm>
            <a:off x="4434840" y="5074920"/>
            <a:ext cx="329184" cy="329184"/>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3</a:t>
            </a:r>
            <a:endParaRPr lang="en-US" sz="1200" dirty="0"/>
          </a:p>
        </p:txBody>
      </p:sp>
      <p:sp>
        <p:nvSpPr>
          <p:cNvPr id="31" name="Text 29"/>
          <p:cNvSpPr txBox="1"/>
          <p:nvPr/>
        </p:nvSpPr>
        <p:spPr>
          <a:xfrm>
            <a:off x="4846320" y="5093208"/>
            <a:ext cx="1143000" cy="292608"/>
          </a:xfrm>
          <a:prstGeom prst="rect">
            <a:avLst/>
          </a:prstGeom>
          <a:noFill/>
          <a:ln/>
        </p:spPr>
        <p:txBody>
          <a:bodyPr wrap="square" lIns="0" tIns="0" rIns="0" bIns="0" rtlCol="0" anchor="ctr"/>
          <a:lstStyle/>
          <a:p>
            <a:pPr indent="0" marL="0">
              <a:buNone/>
            </a:pPr>
            <a:r>
              <a:rPr lang="en-US" sz="1300" b="1" dirty="0">
                <a:solidFill>
                  <a:srgbClr val="F2EEF8"/>
                </a:solidFill>
                <a:latin typeface="Arial" pitchFamily="34" charset="0"/>
                <a:ea typeface="Arial" pitchFamily="34" charset="-122"/>
                <a:cs typeface="Arial" pitchFamily="34" charset="-120"/>
              </a:rPr>
              <a:t>Preparación</a:t>
            </a:r>
            <a:endParaRPr lang="en-US" sz="1300" dirty="0"/>
          </a:p>
        </p:txBody>
      </p:sp>
      <p:sp>
        <p:nvSpPr>
          <p:cNvPr id="32" name="Text 30"/>
          <p:cNvSpPr txBox="1"/>
          <p:nvPr/>
        </p:nvSpPr>
        <p:spPr>
          <a:xfrm>
            <a:off x="4434840" y="5504688"/>
            <a:ext cx="1463040" cy="256032"/>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slide 5</a:t>
            </a:r>
            <a:endParaRPr lang="en-US" sz="1100" dirty="0"/>
          </a:p>
        </p:txBody>
      </p:sp>
      <p:sp>
        <p:nvSpPr>
          <p:cNvPr id="33" name="Shape 31"/>
          <p:cNvSpPr/>
          <p:nvPr/>
        </p:nvSpPr>
        <p:spPr>
          <a:xfrm>
            <a:off x="6172200" y="4937760"/>
            <a:ext cx="1737360" cy="960120"/>
          </a:xfrm>
          <a:prstGeom prst="roundRect">
            <a:avLst>
              <a:gd name="adj" fmla="val 9524"/>
            </a:avLst>
          </a:prstGeom>
          <a:solidFill>
            <a:srgbClr val="21103D"/>
          </a:solidFill>
          <a:ln w="12700">
            <a:solidFill>
              <a:srgbClr val="3A2566"/>
            </a:solidFill>
            <a:prstDash val="solid"/>
          </a:ln>
        </p:spPr>
      </p:sp>
      <p:sp>
        <p:nvSpPr>
          <p:cNvPr id="34" name="Shape 32"/>
          <p:cNvSpPr/>
          <p:nvPr/>
        </p:nvSpPr>
        <p:spPr>
          <a:xfrm>
            <a:off x="6309360" y="5074920"/>
            <a:ext cx="329184" cy="329184"/>
          </a:xfrm>
          <a:prstGeom prst="ellipse">
            <a:avLst/>
          </a:prstGeom>
          <a:solidFill>
            <a:srgbClr val="8644F9"/>
          </a:solidFill>
          <a:ln w="12700">
            <a:solidFill>
              <a:srgbClr val="8644F9"/>
            </a:solidFill>
            <a:prstDash val="solid"/>
          </a:ln>
        </p:spPr>
      </p:sp>
      <p:sp>
        <p:nvSpPr>
          <p:cNvPr id="35" name="Text 33"/>
          <p:cNvSpPr txBox="1"/>
          <p:nvPr/>
        </p:nvSpPr>
        <p:spPr>
          <a:xfrm>
            <a:off x="6309360" y="5074920"/>
            <a:ext cx="329184" cy="329184"/>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4</a:t>
            </a:r>
            <a:endParaRPr lang="en-US" sz="1200" dirty="0"/>
          </a:p>
        </p:txBody>
      </p:sp>
      <p:sp>
        <p:nvSpPr>
          <p:cNvPr id="36" name="Text 34"/>
          <p:cNvSpPr txBox="1"/>
          <p:nvPr/>
        </p:nvSpPr>
        <p:spPr>
          <a:xfrm>
            <a:off x="6720840" y="5093208"/>
            <a:ext cx="1143000" cy="292608"/>
          </a:xfrm>
          <a:prstGeom prst="rect">
            <a:avLst/>
          </a:prstGeom>
          <a:noFill/>
          <a:ln/>
        </p:spPr>
        <p:txBody>
          <a:bodyPr wrap="square" lIns="0" tIns="0" rIns="0" bIns="0" rtlCol="0" anchor="ctr"/>
          <a:lstStyle/>
          <a:p>
            <a:pPr indent="0" marL="0">
              <a:buNone/>
            </a:pPr>
            <a:r>
              <a:rPr lang="en-US" sz="1300" b="1" dirty="0">
                <a:solidFill>
                  <a:srgbClr val="F2EEF8"/>
                </a:solidFill>
                <a:latin typeface="Arial" pitchFamily="34" charset="0"/>
                <a:ea typeface="Arial" pitchFamily="34" charset="-122"/>
                <a:cs typeface="Arial" pitchFamily="34" charset="-120"/>
              </a:rPr>
              <a:t>Modelado</a:t>
            </a:r>
            <a:endParaRPr lang="en-US" sz="1300" dirty="0"/>
          </a:p>
        </p:txBody>
      </p:sp>
      <p:sp>
        <p:nvSpPr>
          <p:cNvPr id="37" name="Text 35"/>
          <p:cNvSpPr txBox="1"/>
          <p:nvPr/>
        </p:nvSpPr>
        <p:spPr>
          <a:xfrm>
            <a:off x="6309360" y="5504688"/>
            <a:ext cx="1463040" cy="256032"/>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slide 6-7</a:t>
            </a:r>
            <a:endParaRPr lang="en-US" sz="1100" dirty="0"/>
          </a:p>
        </p:txBody>
      </p:sp>
      <p:sp>
        <p:nvSpPr>
          <p:cNvPr id="38" name="Shape 36"/>
          <p:cNvSpPr/>
          <p:nvPr/>
        </p:nvSpPr>
        <p:spPr>
          <a:xfrm>
            <a:off x="8046720" y="4937760"/>
            <a:ext cx="1737360" cy="960120"/>
          </a:xfrm>
          <a:prstGeom prst="roundRect">
            <a:avLst>
              <a:gd name="adj" fmla="val 9524"/>
            </a:avLst>
          </a:prstGeom>
          <a:solidFill>
            <a:srgbClr val="21103D"/>
          </a:solidFill>
          <a:ln w="12700">
            <a:solidFill>
              <a:srgbClr val="3A2566"/>
            </a:solidFill>
            <a:prstDash val="solid"/>
          </a:ln>
        </p:spPr>
      </p:sp>
      <p:sp>
        <p:nvSpPr>
          <p:cNvPr id="39" name="Shape 37"/>
          <p:cNvSpPr/>
          <p:nvPr/>
        </p:nvSpPr>
        <p:spPr>
          <a:xfrm>
            <a:off x="8183880" y="5074920"/>
            <a:ext cx="329184" cy="329184"/>
          </a:xfrm>
          <a:prstGeom prst="ellipse">
            <a:avLst/>
          </a:prstGeom>
          <a:solidFill>
            <a:srgbClr val="8644F9"/>
          </a:solidFill>
          <a:ln w="12700">
            <a:solidFill>
              <a:srgbClr val="8644F9"/>
            </a:solidFill>
            <a:prstDash val="solid"/>
          </a:ln>
        </p:spPr>
      </p:sp>
      <p:sp>
        <p:nvSpPr>
          <p:cNvPr id="40" name="Text 38"/>
          <p:cNvSpPr txBox="1"/>
          <p:nvPr/>
        </p:nvSpPr>
        <p:spPr>
          <a:xfrm>
            <a:off x="8183880" y="5074920"/>
            <a:ext cx="329184" cy="329184"/>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5</a:t>
            </a:r>
            <a:endParaRPr lang="en-US" sz="1200" dirty="0"/>
          </a:p>
        </p:txBody>
      </p:sp>
      <p:sp>
        <p:nvSpPr>
          <p:cNvPr id="41" name="Text 39"/>
          <p:cNvSpPr txBox="1"/>
          <p:nvPr/>
        </p:nvSpPr>
        <p:spPr>
          <a:xfrm>
            <a:off x="8595360" y="5093208"/>
            <a:ext cx="1143000" cy="292608"/>
          </a:xfrm>
          <a:prstGeom prst="rect">
            <a:avLst/>
          </a:prstGeom>
          <a:noFill/>
          <a:ln/>
        </p:spPr>
        <p:txBody>
          <a:bodyPr wrap="square" lIns="0" tIns="0" rIns="0" bIns="0" rtlCol="0" anchor="ctr"/>
          <a:lstStyle/>
          <a:p>
            <a:pPr indent="0" marL="0">
              <a:buNone/>
            </a:pPr>
            <a:r>
              <a:rPr lang="en-US" sz="1300" b="1" dirty="0">
                <a:solidFill>
                  <a:srgbClr val="F2EEF8"/>
                </a:solidFill>
                <a:latin typeface="Arial" pitchFamily="34" charset="0"/>
                <a:ea typeface="Arial" pitchFamily="34" charset="-122"/>
                <a:cs typeface="Arial" pitchFamily="34" charset="-120"/>
              </a:rPr>
              <a:t>Evaluación</a:t>
            </a:r>
            <a:endParaRPr lang="en-US" sz="1300" dirty="0"/>
          </a:p>
        </p:txBody>
      </p:sp>
      <p:sp>
        <p:nvSpPr>
          <p:cNvPr id="42" name="Text 40"/>
          <p:cNvSpPr txBox="1"/>
          <p:nvPr/>
        </p:nvSpPr>
        <p:spPr>
          <a:xfrm>
            <a:off x="8183880" y="5504688"/>
            <a:ext cx="1463040" cy="256032"/>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slide 8-9</a:t>
            </a:r>
            <a:endParaRPr lang="en-US" sz="1100" dirty="0"/>
          </a:p>
        </p:txBody>
      </p:sp>
      <p:sp>
        <p:nvSpPr>
          <p:cNvPr id="43" name="Shape 41"/>
          <p:cNvSpPr/>
          <p:nvPr/>
        </p:nvSpPr>
        <p:spPr>
          <a:xfrm>
            <a:off x="9921240" y="4937760"/>
            <a:ext cx="1737360" cy="960120"/>
          </a:xfrm>
          <a:prstGeom prst="roundRect">
            <a:avLst>
              <a:gd name="adj" fmla="val 9524"/>
            </a:avLst>
          </a:prstGeom>
          <a:solidFill>
            <a:srgbClr val="21103D"/>
          </a:solidFill>
          <a:ln w="12700">
            <a:solidFill>
              <a:srgbClr val="3A2566"/>
            </a:solidFill>
            <a:prstDash val="solid"/>
          </a:ln>
        </p:spPr>
      </p:sp>
      <p:sp>
        <p:nvSpPr>
          <p:cNvPr id="44" name="Shape 42"/>
          <p:cNvSpPr/>
          <p:nvPr/>
        </p:nvSpPr>
        <p:spPr>
          <a:xfrm>
            <a:off x="10058400" y="5074920"/>
            <a:ext cx="329184" cy="329184"/>
          </a:xfrm>
          <a:prstGeom prst="ellipse">
            <a:avLst/>
          </a:prstGeom>
          <a:solidFill>
            <a:srgbClr val="8644F9"/>
          </a:solidFill>
          <a:ln w="12700">
            <a:solidFill>
              <a:srgbClr val="8644F9"/>
            </a:solidFill>
            <a:prstDash val="solid"/>
          </a:ln>
        </p:spPr>
      </p:sp>
      <p:sp>
        <p:nvSpPr>
          <p:cNvPr id="45" name="Text 43"/>
          <p:cNvSpPr txBox="1"/>
          <p:nvPr/>
        </p:nvSpPr>
        <p:spPr>
          <a:xfrm>
            <a:off x="10058400" y="5074920"/>
            <a:ext cx="329184" cy="329184"/>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6</a:t>
            </a:r>
            <a:endParaRPr lang="en-US" sz="1200" dirty="0"/>
          </a:p>
        </p:txBody>
      </p:sp>
      <p:sp>
        <p:nvSpPr>
          <p:cNvPr id="46" name="Text 44"/>
          <p:cNvSpPr txBox="1"/>
          <p:nvPr/>
        </p:nvSpPr>
        <p:spPr>
          <a:xfrm>
            <a:off x="10469880" y="5093208"/>
            <a:ext cx="1143000" cy="292608"/>
          </a:xfrm>
          <a:prstGeom prst="rect">
            <a:avLst/>
          </a:prstGeom>
          <a:noFill/>
          <a:ln/>
        </p:spPr>
        <p:txBody>
          <a:bodyPr wrap="square" lIns="0" tIns="0" rIns="0" bIns="0" rtlCol="0" anchor="ctr"/>
          <a:lstStyle/>
          <a:p>
            <a:pPr indent="0" marL="0">
              <a:buNone/>
            </a:pPr>
            <a:r>
              <a:rPr lang="en-US" sz="1300" b="1" dirty="0">
                <a:solidFill>
                  <a:srgbClr val="F2EEF8"/>
                </a:solidFill>
                <a:latin typeface="Arial" pitchFamily="34" charset="0"/>
                <a:ea typeface="Arial" pitchFamily="34" charset="-122"/>
                <a:cs typeface="Arial" pitchFamily="34" charset="-120"/>
              </a:rPr>
              <a:t>Despliegue</a:t>
            </a:r>
            <a:endParaRPr lang="en-US" sz="1300" dirty="0"/>
          </a:p>
        </p:txBody>
      </p:sp>
      <p:sp>
        <p:nvSpPr>
          <p:cNvPr id="47" name="Text 45"/>
          <p:cNvSpPr txBox="1"/>
          <p:nvPr/>
        </p:nvSpPr>
        <p:spPr>
          <a:xfrm>
            <a:off x="10058400" y="5504688"/>
            <a:ext cx="1463040" cy="256032"/>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slide 10</a:t>
            </a:r>
            <a:endParaRPr lang="en-US" sz="11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1 · ENTENDIMIENTO DEL NEGOCIO</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El destino del crédito llega en texto libre; etiquetarlo lo convierte en una señal de riesgo y de producto</a:t>
            </a:r>
            <a:endParaRPr lang="en-US" sz="2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6035040" cy="914400"/>
        </p:xfrm>
        <a:graphic>
          <a:graphicData uri="http://schemas.openxmlformats.org/drawingml/2006/table">
            <a:tbl>
              <a:tblPr/>
              <a:tblGrid>
                <a:gridCol w="4754880"/>
                <a:gridCol w="1280160"/>
              </a:tblGrid>
              <a:tr h="402336">
                <a:tc>
                  <a:txBody>
                    <a:bodyPr/>
                    <a:lstStyle/>
                    <a:p>
                      <a:pPr indent="0" marL="0">
                        <a:buNone/>
                      </a:pPr>
                      <a:r>
                        <a:rPr lang="en-US" sz="1300" b="1" dirty="0">
                          <a:solidFill>
                            <a:srgbClr val="F2EEF8"/>
                          </a:solidFill>
                          <a:latin typeface="Arial" pitchFamily="34" charset="0"/>
                          <a:ea typeface="Arial" pitchFamily="34" charset="-122"/>
                          <a:cs typeface="Arial" pitchFamily="34" charset="-120"/>
                        </a:rPr>
                        <a:t>Respuesta del solicitante</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300" b="1" dirty="0">
                          <a:solidFill>
                            <a:srgbClr val="F2EEF8"/>
                          </a:solidFill>
                          <a:latin typeface="Arial" pitchFamily="34" charset="0"/>
                          <a:ea typeface="Arial" pitchFamily="34" charset="-122"/>
                          <a:cs typeface="Arial" pitchFamily="34" charset="-120"/>
                        </a:rPr>
                        <a:t>Etiquetas</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5B2DB8"/>
                    </a:solidFill>
                  </a:tcPr>
                </a:tc>
              </a:tr>
              <a:tr h="402336">
                <a:tc>
                  <a:txBody>
                    <a:bodyPr/>
                    <a:lstStyle/>
                    <a:p>
                      <a:pPr indent="0" marL="0">
                        <a:buNone/>
                      </a:pPr>
                      <a:r>
                        <a:rPr lang="en-US" sz="1300" dirty="0">
                          <a:solidFill>
                            <a:srgbClr val="F2EEF8"/>
                          </a:solidFill>
                          <a:latin typeface="Arial" pitchFamily="34" charset="0"/>
                          <a:ea typeface="Arial" pitchFamily="34" charset="-122"/>
                          <a:cs typeface="Arial" pitchFamily="34" charset="-120"/>
                        </a:rPr>
                        <a:t>Invertiré en equipo de transporte tractocamión</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300" dirty="0">
                          <a:solidFill>
                            <a:srgbClr val="F2EEF8"/>
                          </a:solidFill>
                          <a:latin typeface="Arial" pitchFamily="34" charset="0"/>
                          <a:ea typeface="Arial" pitchFamily="34" charset="-122"/>
                          <a:cs typeface="Arial" pitchFamily="34" charset="-120"/>
                        </a:rPr>
                        <a:t>equ</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02336">
                <a:tc>
                  <a:txBody>
                    <a:bodyPr/>
                    <a:lstStyle/>
                    <a:p>
                      <a:pPr indent="0" marL="0">
                        <a:buNone/>
                      </a:pPr>
                      <a:r>
                        <a:rPr lang="en-US" sz="1300" dirty="0">
                          <a:solidFill>
                            <a:srgbClr val="F2EEF8"/>
                          </a:solidFill>
                          <a:latin typeface="Arial" pitchFamily="34" charset="0"/>
                          <a:ea typeface="Arial" pitchFamily="34" charset="-122"/>
                          <a:cs typeface="Arial" pitchFamily="34" charset="-120"/>
                        </a:rPr>
                        <a:t>Compra de inventario, publicidad y capacitación</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300" dirty="0">
                          <a:solidFill>
                            <a:srgbClr val="F2EEF8"/>
                          </a:solidFill>
                          <a:latin typeface="Arial" pitchFamily="34" charset="0"/>
                          <a:ea typeface="Arial" pitchFamily="34" charset="-122"/>
                          <a:cs typeface="Arial" pitchFamily="34" charset="-120"/>
                        </a:rPr>
                        <a:t>inv, mkt</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02336">
                <a:tc>
                  <a:txBody>
                    <a:bodyPr/>
                    <a:lstStyle/>
                    <a:p>
                      <a:pPr indent="0" marL="0">
                        <a:buNone/>
                      </a:pPr>
                      <a:r>
                        <a:rPr lang="en-US" sz="1300" dirty="0">
                          <a:solidFill>
                            <a:srgbClr val="F2EEF8"/>
                          </a:solidFill>
                          <a:latin typeface="Arial" pitchFamily="34" charset="0"/>
                          <a:ea typeface="Arial" pitchFamily="34" charset="-122"/>
                          <a:cs typeface="Arial" pitchFamily="34" charset="-120"/>
                        </a:rPr>
                        <a:t>Transferir otro crédito que está muy caro</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300" dirty="0">
                          <a:solidFill>
                            <a:srgbClr val="F2EEF8"/>
                          </a:solidFill>
                          <a:latin typeface="Arial" pitchFamily="34" charset="0"/>
                          <a:ea typeface="Arial" pitchFamily="34" charset="-122"/>
                          <a:cs typeface="Arial" pitchFamily="34" charset="-120"/>
                        </a:rPr>
                        <a:t>cred</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02336">
                <a:tc>
                  <a:txBody>
                    <a:bodyPr/>
                    <a:lstStyle/>
                    <a:p>
                      <a:pPr indent="0" marL="0">
                        <a:buNone/>
                      </a:pPr>
                      <a:r>
                        <a:rPr lang="en-US" sz="1300" dirty="0">
                          <a:solidFill>
                            <a:srgbClr val="F2EEF8"/>
                          </a:solidFill>
                          <a:latin typeface="Arial" pitchFamily="34" charset="0"/>
                          <a:ea typeface="Arial" pitchFamily="34" charset="-122"/>
                          <a:cs typeface="Arial" pitchFamily="34" charset="-120"/>
                        </a:rPr>
                        <a:t>Quiero irme de vacaciones en mayo</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300" dirty="0">
                          <a:solidFill>
                            <a:srgbClr val="F2EEF8"/>
                          </a:solidFill>
                          <a:latin typeface="Arial" pitchFamily="34" charset="0"/>
                          <a:ea typeface="Arial" pitchFamily="34" charset="-122"/>
                          <a:cs typeface="Arial" pitchFamily="34" charset="-120"/>
                        </a:rPr>
                        <a:t>no</a:t>
                      </a:r>
                      <a:endParaRPr lang="en-US" sz="1300" dirty="0">
                        <a:latin typeface="Arial" charset="0"/>
                        <a:ea typeface="Arial" charset="0"/>
                        <a:cs typeface="Arial" charset="0"/>
                      </a:endParaRPr>
                    </a:p>
                  </a:txBody>
                  <a:tcPr marL="109728" marR="109728"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bl>
          </a:graphicData>
        </a:graphic>
      </p:graphicFrame>
      <p:sp>
        <p:nvSpPr>
          <p:cNvPr id="6" name="Text 3"/>
          <p:cNvSpPr txBox="1"/>
          <p:nvPr/>
        </p:nvSpPr>
        <p:spPr>
          <a:xfrm>
            <a:off x="548640" y="4069080"/>
            <a:ext cx="54864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CÓMO DEFINÍ EL ÉXITO</a:t>
            </a:r>
            <a:endParaRPr lang="en-US" sz="1100" dirty="0"/>
          </a:p>
        </p:txBody>
      </p:sp>
      <p:sp>
        <p:nvSpPr>
          <p:cNvPr id="7" name="Text 4"/>
          <p:cNvSpPr txBox="1"/>
          <p:nvPr/>
        </p:nvSpPr>
        <p:spPr>
          <a:xfrm>
            <a:off x="548640" y="4389120"/>
            <a:ext cx="6035040" cy="173736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F2EEF8"/>
                </a:solidFill>
                <a:latin typeface="Arial" pitchFamily="34" charset="0"/>
                <a:ea typeface="Arial" pitchFamily="34" charset="-122"/>
                <a:cs typeface="Arial" pitchFamily="34" charset="-120"/>
              </a:rPr>
              <a:t>Macro F1 como métrica principal, fijada antes de modelar: temp (2.8%) pesa igual que inv (34.7%)</a:t>
            </a:r>
            <a:endParaRPr lang="en-US" sz="1400" dirty="0"/>
          </a:p>
          <a:p>
            <a:pPr marL="203200" indent="-203200">
              <a:spcAft>
                <a:spcPts val="800"/>
              </a:spcAft>
              <a:buSzPct val="100000"/>
              <a:buChar char="•"/>
            </a:pPr>
            <a:r>
              <a:rPr lang="en-US" sz="1400" dirty="0">
                <a:solidFill>
                  <a:srgbClr val="F2EEF8"/>
                </a:solidFill>
                <a:latin typeface="Arial" pitchFamily="34" charset="0"/>
                <a:ea typeface="Arial" pitchFamily="34" charset="-122"/>
                <a:cs typeface="Arial" pitchFamily="34" charset="-120"/>
              </a:rPr>
              <a:t>no (consumo personal) y cred (refinanciamiento) son señales de riesgo: priorizo su recall</a:t>
            </a:r>
            <a:endParaRPr lang="en-US" sz="1400" dirty="0"/>
          </a:p>
          <a:p>
            <a:pPr marL="203200" indent="-203200">
              <a:spcAft>
                <a:spcPts val="800"/>
              </a:spcAft>
              <a:buSzPct val="100000"/>
              <a:buChar char="•"/>
            </a:pPr>
            <a:r>
              <a:rPr lang="en-US" sz="1400" dirty="0">
                <a:solidFill>
                  <a:srgbClr val="F2EEF8"/>
                </a:solidFill>
                <a:latin typeface="Arial" pitchFamily="34" charset="0"/>
                <a:ea typeface="Arial" pitchFamily="34" charset="-122"/>
                <a:cs typeface="Arial" pitchFamily="34" charset="-120"/>
              </a:rPr>
              <a:t>10 etiquetas, una respuesta puede tener varias: problema multietiqueta</a:t>
            </a:r>
            <a:endParaRPr lang="en-US" sz="1400" dirty="0"/>
          </a:p>
        </p:txBody>
      </p:sp>
      <p:sp>
        <p:nvSpPr>
          <p:cNvPr id="8" name="Shape 5"/>
          <p:cNvSpPr/>
          <p:nvPr/>
        </p:nvSpPr>
        <p:spPr>
          <a:xfrm>
            <a:off x="6995160" y="1874520"/>
            <a:ext cx="4617720" cy="4251960"/>
          </a:xfrm>
          <a:prstGeom prst="roundRect">
            <a:avLst>
              <a:gd name="adj" fmla="val 2581"/>
            </a:avLst>
          </a:prstGeom>
          <a:solidFill>
            <a:srgbClr val="21103D"/>
          </a:solidFill>
          <a:ln w="12700">
            <a:solidFill>
              <a:srgbClr val="21103D"/>
            </a:solidFill>
            <a:prstDash val="solid"/>
          </a:ln>
        </p:spPr>
      </p:sp>
      <p:sp>
        <p:nvSpPr>
          <p:cNvPr id="9" name="Text 6"/>
          <p:cNvSpPr txBox="1"/>
          <p:nvPr/>
        </p:nvSpPr>
        <p:spPr>
          <a:xfrm>
            <a:off x="7269480" y="2103120"/>
            <a:ext cx="41148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PUNTO DE PARTIDA DE KONFÍO</a:t>
            </a:r>
            <a:endParaRPr lang="en-US" sz="1100" dirty="0"/>
          </a:p>
        </p:txBody>
      </p:sp>
      <p:sp>
        <p:nvSpPr>
          <p:cNvPr id="10" name="Text 7"/>
          <p:cNvSpPr txBox="1"/>
          <p:nvPr/>
        </p:nvSpPr>
        <p:spPr>
          <a:xfrm>
            <a:off x="7269480" y="2514600"/>
            <a:ext cx="4114800" cy="1828800"/>
          </a:xfrm>
          <a:prstGeom prst="rect">
            <a:avLst/>
          </a:prstGeom>
          <a:noFill/>
          <a:ln/>
        </p:spPr>
        <p:txBody>
          <a:bodyPr wrap="square" lIns="0" tIns="0" rIns="0" bIns="0" rtlCol="0" anchor="t"/>
          <a:lstStyle/>
          <a:p>
            <a:pPr indent="0" marL="0">
              <a:buNone/>
            </a:pPr>
            <a:r>
              <a:rPr lang="en-US" sz="1400" b="1" dirty="0">
                <a:solidFill>
                  <a:srgbClr val="F2EEF8"/>
                </a:solidFill>
                <a:latin typeface="Arial" pitchFamily="34" charset="0"/>
                <a:ea typeface="Arial" pitchFamily="34" charset="-122"/>
                <a:cs typeface="Arial" pitchFamily="34" charset="-120"/>
              </a:rPr>
              <a:t>Machine learning</a:t>
            </a:r>
            <a:endParaRPr lang="en-US" sz="1400" dirty="0"/>
          </a:p>
          <a:p>
            <a:pPr indent="0" marL="0">
              <a:buNone/>
            </a:pPr>
            <a:r>
              <a:rPr lang="en-US" sz="1400" dirty="0">
                <a:solidFill>
                  <a:srgbClr val="B9AECF"/>
                </a:solidFill>
                <a:latin typeface="Arial" pitchFamily="34" charset="0"/>
                <a:ea typeface="Arial" pitchFamily="34" charset="-122"/>
                <a:cs typeface="Arial" pitchFamily="34" charset="-120"/>
              </a:rPr>
              <a:t>Embeddings de oración (LASER) + regresión logística, una por etiqueta</a:t>
            </a:r>
            <a:endParaRPr lang="en-US" sz="1400" dirty="0"/>
          </a:p>
          <a:p>
            <a:pPr indent="0" marL="0">
              <a:buNone/>
            </a:pPr>
            <a:r>
              <a:rPr lang="en-US" sz="800" dirty="0">
                <a:solidFill>
                  <a:srgbClr val="F2EEF8"/>
                </a:solidFill>
                <a:latin typeface="Arial" pitchFamily="34" charset="0"/>
                <a:ea typeface="Arial" pitchFamily="34" charset="-122"/>
                <a:cs typeface="Arial" pitchFamily="34" charset="-120"/>
              </a:rPr>
              <a:t> </a:t>
            </a:r>
            <a:endParaRPr lang="en-US" sz="1400" dirty="0"/>
          </a:p>
          <a:p>
            <a:pPr indent="0" marL="0">
              <a:buNone/>
            </a:pPr>
            <a:r>
              <a:rPr lang="en-US" sz="1400" b="1" dirty="0">
                <a:solidFill>
                  <a:srgbClr val="F2EEF8"/>
                </a:solidFill>
                <a:latin typeface="Arial" pitchFamily="34" charset="0"/>
                <a:ea typeface="Arial" pitchFamily="34" charset="-122"/>
                <a:cs typeface="Arial" pitchFamily="34" charset="-120"/>
              </a:rPr>
              <a:t>Deep learning</a:t>
            </a:r>
            <a:endParaRPr lang="en-US" sz="1400" dirty="0"/>
          </a:p>
          <a:p>
            <a:pPr indent="0" marL="0">
              <a:buNone/>
            </a:pPr>
            <a:r>
              <a:rPr lang="en-US" sz="1400" dirty="0">
                <a:solidFill>
                  <a:srgbClr val="B9AECF"/>
                </a:solidFill>
                <a:latin typeface="Arial" pitchFamily="34" charset="0"/>
                <a:ea typeface="Arial" pitchFamily="34" charset="-122"/>
                <a:cs typeface="Arial" pitchFamily="34" charset="-120"/>
              </a:rPr>
              <a:t>CNN con embeddings fastText sobre texto lematizado</a:t>
            </a:r>
            <a:endParaRPr lang="en-US" sz="1400" dirty="0"/>
          </a:p>
        </p:txBody>
      </p:sp>
      <p:sp>
        <p:nvSpPr>
          <p:cNvPr id="11" name="Text 8"/>
          <p:cNvSpPr txBox="1"/>
          <p:nvPr/>
        </p:nvSpPr>
        <p:spPr>
          <a:xfrm>
            <a:off x="7269480" y="4343400"/>
            <a:ext cx="2103120" cy="640080"/>
          </a:xfrm>
          <a:prstGeom prst="rect">
            <a:avLst/>
          </a:prstGeom>
          <a:noFill/>
          <a:ln/>
        </p:spPr>
        <p:txBody>
          <a:bodyPr wrap="square" lIns="0" tIns="0" rIns="0" bIns="0" rtlCol="0" anchor="t"/>
          <a:lstStyle/>
          <a:p>
            <a:pPr indent="0" marL="0">
              <a:buNone/>
            </a:pPr>
            <a:r>
              <a:rPr lang="en-US" sz="3400" b="1" dirty="0">
                <a:solidFill>
                  <a:srgbClr val="8644F9"/>
                </a:solidFill>
                <a:latin typeface="Arial" pitchFamily="34" charset="0"/>
                <a:ea typeface="Arial" pitchFamily="34" charset="-122"/>
                <a:cs typeface="Arial" pitchFamily="34" charset="-120"/>
              </a:rPr>
              <a:t>0.06821</a:t>
            </a:r>
            <a:endParaRPr lang="en-US" sz="3400" dirty="0"/>
          </a:p>
        </p:txBody>
      </p:sp>
      <p:sp>
        <p:nvSpPr>
          <p:cNvPr id="12" name="Text 9"/>
          <p:cNvSpPr txBox="1"/>
          <p:nvPr/>
        </p:nvSpPr>
        <p:spPr>
          <a:xfrm>
            <a:off x="7269480" y="4983480"/>
            <a:ext cx="2103120" cy="2743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Hamming loss</a:t>
            </a:r>
            <a:endParaRPr lang="en-US" sz="1200" dirty="0"/>
          </a:p>
        </p:txBody>
      </p:sp>
      <p:sp>
        <p:nvSpPr>
          <p:cNvPr id="13" name="Text 10"/>
          <p:cNvSpPr txBox="1"/>
          <p:nvPr/>
        </p:nvSpPr>
        <p:spPr>
          <a:xfrm>
            <a:off x="9464040" y="4343400"/>
            <a:ext cx="1920240" cy="640080"/>
          </a:xfrm>
          <a:prstGeom prst="rect">
            <a:avLst/>
          </a:prstGeom>
          <a:noFill/>
          <a:ln/>
        </p:spPr>
        <p:txBody>
          <a:bodyPr wrap="square" lIns="0" tIns="0" rIns="0" bIns="0" rtlCol="0" anchor="t"/>
          <a:lstStyle/>
          <a:p>
            <a:pPr indent="0" marL="0">
              <a:buNone/>
            </a:pPr>
            <a:r>
              <a:rPr lang="en-US" sz="3400" b="1" dirty="0">
                <a:solidFill>
                  <a:srgbClr val="8644F9"/>
                </a:solidFill>
                <a:latin typeface="Arial" pitchFamily="34" charset="0"/>
                <a:ea typeface="Arial" pitchFamily="34" charset="-122"/>
                <a:cs typeface="Arial" pitchFamily="34" charset="-120"/>
              </a:rPr>
              <a:t>67%</a:t>
            </a:r>
            <a:endParaRPr lang="en-US" sz="3400" dirty="0"/>
          </a:p>
        </p:txBody>
      </p:sp>
      <p:sp>
        <p:nvSpPr>
          <p:cNvPr id="14" name="Text 11"/>
          <p:cNvSpPr txBox="1"/>
          <p:nvPr/>
        </p:nvSpPr>
        <p:spPr>
          <a:xfrm>
            <a:off x="9464040" y="4983480"/>
            <a:ext cx="2011680" cy="2743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precisión promedio</a:t>
            </a:r>
            <a:endParaRPr lang="en-US" sz="1200" dirty="0"/>
          </a:p>
        </p:txBody>
      </p:sp>
      <p:sp>
        <p:nvSpPr>
          <p:cNvPr id="15" name="Text 12"/>
          <p:cNvSpPr txBox="1"/>
          <p:nvPr/>
        </p:nvSpPr>
        <p:spPr>
          <a:xfrm>
            <a:off x="7269480" y="5440680"/>
            <a:ext cx="4114800" cy="365760"/>
          </a:xfrm>
          <a:prstGeom prst="rect">
            <a:avLst/>
          </a:prstGeom>
          <a:noFill/>
          <a:ln/>
        </p:spPr>
        <p:txBody>
          <a:bodyPr wrap="square" lIns="0" tIns="0" rIns="0" bIns="0" rtlCol="0" anchor="t"/>
          <a:lstStyle/>
          <a:p>
            <a:pPr indent="0" marL="0">
              <a:buNone/>
            </a:pPr>
            <a:r>
              <a:rPr lang="en-US" sz="1300" b="1" dirty="0">
                <a:solidFill>
                  <a:srgbClr val="D9637B"/>
                </a:solidFill>
                <a:latin typeface="Arial" pitchFamily="34" charset="0"/>
                <a:ea typeface="Arial" pitchFamily="34" charset="-122"/>
                <a:cs typeface="Arial" pitchFamily="34" charset="-120"/>
              </a:rPr>
              <a:t>Su etiqueta más débil: temp, la menos poblada</a:t>
            </a:r>
            <a:endParaRPr lang="en-US" sz="13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2 · ENTENDIMIENTO DE LOS DATOS</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Los datos traían defectos estructurales y un desbalance fuerte: temp aparece en solo 2.8% de las respuestas</a:t>
            </a:r>
            <a:endParaRPr lang="en-US" sz="25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5257800" cy="914400"/>
        </p:xfrm>
        <a:graphic>
          <a:graphicData uri="http://schemas.openxmlformats.org/drawingml/2006/table">
            <a:tbl>
              <a:tblPr/>
              <a:tblGrid>
                <a:gridCol w="2743200"/>
                <a:gridCol w="2514600"/>
              </a:tblGrid>
              <a:tr h="457200">
                <a:tc>
                  <a:txBody>
                    <a:bodyPr/>
                    <a:lstStyle/>
                    <a:p>
                      <a:pPr indent="0" marL="0">
                        <a:buNone/>
                      </a:pPr>
                      <a:r>
                        <a:rPr lang="en-US" sz="1200" b="1" dirty="0">
                          <a:solidFill>
                            <a:srgbClr val="F2EEF8"/>
                          </a:solidFill>
                          <a:latin typeface="Arial" pitchFamily="34" charset="0"/>
                          <a:ea typeface="Arial" pitchFamily="34" charset="-122"/>
                          <a:cs typeface="Arial" pitchFamily="34" charset="-120"/>
                        </a:rPr>
                        <a:t>Lo que encontré</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200" b="1" dirty="0">
                          <a:solidFill>
                            <a:srgbClr val="F2EEF8"/>
                          </a:solidFill>
                          <a:latin typeface="Arial" pitchFamily="34" charset="0"/>
                          <a:ea typeface="Arial" pitchFamily="34" charset="-122"/>
                          <a:cs typeface="Arial" pitchFamily="34" charset="-120"/>
                        </a:rPr>
                        <a:t>Lo que decidí</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5B2DB8"/>
                    </a:solidFill>
                  </a:tcPr>
                </a:tc>
              </a:tr>
              <a:tr h="457200">
                <a:tc>
                  <a:txBody>
                    <a:bodyPr/>
                    <a:lstStyle/>
                    <a:p>
                      <a:pPr indent="0" marL="0">
                        <a:buNone/>
                      </a:pPr>
                      <a:r>
                        <a:rPr lang="en-US" sz="1200" dirty="0">
                          <a:solidFill>
                            <a:srgbClr val="F2EEF8"/>
                          </a:solidFill>
                          <a:latin typeface="Arial" pitchFamily="34" charset="0"/>
                          <a:ea typeface="Arial" pitchFamily="34" charset="-122"/>
                          <a:cs typeface="Arial" pitchFamily="34" charset="-120"/>
                        </a:rPr>
                        <a:t>~22 registros fusionados en una celda</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Los recuperé línea por línea</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57200">
                <a:tc>
                  <a:txBody>
                    <a:bodyPr/>
                    <a:lstStyle/>
                    <a:p>
                      <a:pPr indent="0" marL="0">
                        <a:buNone/>
                      </a:pPr>
                      <a:r>
                        <a:rPr lang="en-US" sz="1200" dirty="0">
                          <a:solidFill>
                            <a:srgbClr val="F2EEF8"/>
                          </a:solidFill>
                          <a:latin typeface="Arial" pitchFamily="34" charset="0"/>
                          <a:ea typeface="Arial" pitchFamily="34" charset="-122"/>
                          <a:cs typeface="Arial" pitchFamily="34" charset="-120"/>
                        </a:rPr>
                        <a:t>Codificación rota en ~42% de las filas</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La corregí con ftfy</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57200">
                <a:tc>
                  <a:txBody>
                    <a:bodyPr/>
                    <a:lstStyle/>
                    <a:p>
                      <a:pPr indent="0" marL="0">
                        <a:buNone/>
                      </a:pPr>
                      <a:r>
                        <a:rPr lang="en-US" sz="1200" dirty="0">
                          <a:solidFill>
                            <a:srgbClr val="F2EEF8"/>
                          </a:solidFill>
                          <a:latin typeface="Arial" pitchFamily="34" charset="0"/>
                          <a:ea typeface="Arial" pitchFamily="34" charset="-122"/>
                          <a:cs typeface="Arial" pitchFamily="34" charset="-120"/>
                        </a:rPr>
                        <a:t>9 textos sin sentido y 1 no textual</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Los eliminé, con su motivo registrado</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57200">
                <a:tc>
                  <a:txBody>
                    <a:bodyPr/>
                    <a:lstStyle/>
                    <a:p>
                      <a:pPr indent="0" marL="0">
                        <a:buNone/>
                      </a:pPr>
                      <a:r>
                        <a:rPr lang="en-US" sz="1200" dirty="0">
                          <a:solidFill>
                            <a:srgbClr val="F2EEF8"/>
                          </a:solidFill>
                          <a:latin typeface="Arial" pitchFamily="34" charset="0"/>
                          <a:ea typeface="Arial" pitchFamily="34" charset="-122"/>
                          <a:cs typeface="Arial" pitchFamily="34" charset="-120"/>
                        </a:rPr>
                        <a:t>58 grupos de texto idéntico con etiquetas distintas</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Los conservé: miden el ruido de anotación</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457200">
                <a:tc>
                  <a:txBody>
                    <a:bodyPr/>
                    <a:lstStyle/>
                    <a:p>
                      <a:pPr indent="0" marL="0">
                        <a:buNone/>
                      </a:pPr>
                      <a:r>
                        <a:rPr lang="en-US" sz="1200" dirty="0">
                          <a:solidFill>
                            <a:srgbClr val="F2EEF8"/>
                          </a:solidFill>
                          <a:latin typeface="Arial" pitchFamily="34" charset="0"/>
                          <a:ea typeface="Arial" pitchFamily="34" charset="-122"/>
                          <a:cs typeface="Arial" pitchFamily="34" charset="-120"/>
                        </a:rPr>
                        <a:t>inv no aparece en el codebook</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Asumí inventario o mercancía</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bl>
          </a:graphicData>
        </a:graphic>
      </p:graphicFrame>
      <p:sp>
        <p:nvSpPr>
          <p:cNvPr id="6" name="Shape 3"/>
          <p:cNvSpPr/>
          <p:nvPr/>
        </p:nvSpPr>
        <p:spPr>
          <a:xfrm>
            <a:off x="548640" y="4983480"/>
            <a:ext cx="1645920" cy="1143000"/>
          </a:xfrm>
          <a:prstGeom prst="roundRect">
            <a:avLst>
              <a:gd name="adj" fmla="val 9600"/>
            </a:avLst>
          </a:prstGeom>
          <a:solidFill>
            <a:srgbClr val="21103D"/>
          </a:solidFill>
          <a:ln w="12700">
            <a:solidFill>
              <a:srgbClr val="21103D"/>
            </a:solidFill>
            <a:prstDash val="solid"/>
          </a:ln>
        </p:spPr>
      </p:sp>
      <p:sp>
        <p:nvSpPr>
          <p:cNvPr id="7" name="Text 4"/>
          <p:cNvSpPr txBox="1"/>
          <p:nvPr/>
        </p:nvSpPr>
        <p:spPr>
          <a:xfrm>
            <a:off x="685800" y="5074920"/>
            <a:ext cx="1417320" cy="548640"/>
          </a:xfrm>
          <a:prstGeom prst="rect">
            <a:avLst/>
          </a:prstGeom>
          <a:noFill/>
          <a:ln/>
        </p:spPr>
        <p:txBody>
          <a:bodyPr wrap="square" lIns="0" tIns="0" rIns="0" bIns="0" rtlCol="0" anchor="t"/>
          <a:lstStyle/>
          <a:p>
            <a:pPr indent="0" marL="0">
              <a:buNone/>
            </a:pPr>
            <a:r>
              <a:rPr lang="en-US" sz="2600" b="1" dirty="0">
                <a:solidFill>
                  <a:srgbClr val="8644F9"/>
                </a:solidFill>
                <a:latin typeface="Arial" pitchFamily="34" charset="0"/>
                <a:ea typeface="Arial" pitchFamily="34" charset="-122"/>
                <a:cs typeface="Arial" pitchFamily="34" charset="-120"/>
              </a:rPr>
              <a:t>6,691</a:t>
            </a:r>
            <a:endParaRPr lang="en-US" sz="2600" dirty="0"/>
          </a:p>
        </p:txBody>
      </p:sp>
      <p:sp>
        <p:nvSpPr>
          <p:cNvPr id="8" name="Text 5"/>
          <p:cNvSpPr txBox="1"/>
          <p:nvPr/>
        </p:nvSpPr>
        <p:spPr>
          <a:xfrm>
            <a:off x="685800" y="5623560"/>
            <a:ext cx="1417320" cy="411480"/>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respuestas limpias</a:t>
            </a:r>
            <a:endParaRPr lang="en-US" sz="1100" dirty="0"/>
          </a:p>
        </p:txBody>
      </p:sp>
      <p:sp>
        <p:nvSpPr>
          <p:cNvPr id="9" name="Shape 6"/>
          <p:cNvSpPr/>
          <p:nvPr/>
        </p:nvSpPr>
        <p:spPr>
          <a:xfrm>
            <a:off x="2331720" y="4983480"/>
            <a:ext cx="1645920" cy="1143000"/>
          </a:xfrm>
          <a:prstGeom prst="roundRect">
            <a:avLst>
              <a:gd name="adj" fmla="val 9600"/>
            </a:avLst>
          </a:prstGeom>
          <a:solidFill>
            <a:srgbClr val="21103D"/>
          </a:solidFill>
          <a:ln w="12700">
            <a:solidFill>
              <a:srgbClr val="21103D"/>
            </a:solidFill>
            <a:prstDash val="solid"/>
          </a:ln>
        </p:spPr>
      </p:sp>
      <p:sp>
        <p:nvSpPr>
          <p:cNvPr id="10" name="Text 7"/>
          <p:cNvSpPr txBox="1"/>
          <p:nvPr/>
        </p:nvSpPr>
        <p:spPr>
          <a:xfrm>
            <a:off x="2468880" y="5074920"/>
            <a:ext cx="1417320" cy="548640"/>
          </a:xfrm>
          <a:prstGeom prst="rect">
            <a:avLst/>
          </a:prstGeom>
          <a:noFill/>
          <a:ln/>
        </p:spPr>
        <p:txBody>
          <a:bodyPr wrap="square" lIns="0" tIns="0" rIns="0" bIns="0" rtlCol="0" anchor="t"/>
          <a:lstStyle/>
          <a:p>
            <a:pPr indent="0" marL="0">
              <a:buNone/>
            </a:pPr>
            <a:r>
              <a:rPr lang="en-US" sz="2600" b="1" dirty="0">
                <a:solidFill>
                  <a:srgbClr val="8644F9"/>
                </a:solidFill>
                <a:latin typeface="Arial" pitchFamily="34" charset="0"/>
                <a:ea typeface="Arial" pitchFamily="34" charset="-122"/>
                <a:cs typeface="Arial" pitchFamily="34" charset="-120"/>
              </a:rPr>
              <a:t>86%</a:t>
            </a:r>
            <a:endParaRPr lang="en-US" sz="2600" dirty="0"/>
          </a:p>
        </p:txBody>
      </p:sp>
      <p:sp>
        <p:nvSpPr>
          <p:cNvPr id="11" name="Text 8"/>
          <p:cNvSpPr txBox="1"/>
          <p:nvPr/>
        </p:nvSpPr>
        <p:spPr>
          <a:xfrm>
            <a:off x="2468880" y="5623560"/>
            <a:ext cx="1417320" cy="411480"/>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con una sola etiqueta</a:t>
            </a:r>
            <a:endParaRPr lang="en-US" sz="1100" dirty="0"/>
          </a:p>
        </p:txBody>
      </p:sp>
      <p:sp>
        <p:nvSpPr>
          <p:cNvPr id="12" name="Shape 9"/>
          <p:cNvSpPr/>
          <p:nvPr/>
        </p:nvSpPr>
        <p:spPr>
          <a:xfrm>
            <a:off x="4114800" y="4983480"/>
            <a:ext cx="1645920" cy="1143000"/>
          </a:xfrm>
          <a:prstGeom prst="roundRect">
            <a:avLst>
              <a:gd name="adj" fmla="val 9600"/>
            </a:avLst>
          </a:prstGeom>
          <a:solidFill>
            <a:srgbClr val="21103D"/>
          </a:solidFill>
          <a:ln w="12700">
            <a:solidFill>
              <a:srgbClr val="21103D"/>
            </a:solidFill>
            <a:prstDash val="solid"/>
          </a:ln>
        </p:spPr>
      </p:sp>
      <p:sp>
        <p:nvSpPr>
          <p:cNvPr id="13" name="Text 10"/>
          <p:cNvSpPr txBox="1"/>
          <p:nvPr/>
        </p:nvSpPr>
        <p:spPr>
          <a:xfrm>
            <a:off x="4251960" y="5074920"/>
            <a:ext cx="1417320" cy="548640"/>
          </a:xfrm>
          <a:prstGeom prst="rect">
            <a:avLst/>
          </a:prstGeom>
          <a:noFill/>
          <a:ln/>
        </p:spPr>
        <p:txBody>
          <a:bodyPr wrap="square" lIns="0" tIns="0" rIns="0" bIns="0" rtlCol="0" anchor="t"/>
          <a:lstStyle/>
          <a:p>
            <a:pPr indent="0" marL="0">
              <a:buNone/>
            </a:pPr>
            <a:r>
              <a:rPr lang="en-US" sz="2600" b="1" dirty="0">
                <a:solidFill>
                  <a:srgbClr val="8644F9"/>
                </a:solidFill>
                <a:latin typeface="Arial" pitchFamily="34" charset="0"/>
                <a:ea typeface="Arial" pitchFamily="34" charset="-122"/>
                <a:cs typeface="Arial" pitchFamily="34" charset="-120"/>
              </a:rPr>
              <a:t>11</a:t>
            </a:r>
            <a:endParaRPr lang="en-US" sz="2600" dirty="0"/>
          </a:p>
        </p:txBody>
      </p:sp>
      <p:sp>
        <p:nvSpPr>
          <p:cNvPr id="14" name="Text 11"/>
          <p:cNvSpPr txBox="1"/>
          <p:nvPr/>
        </p:nvSpPr>
        <p:spPr>
          <a:xfrm>
            <a:off x="4251960" y="5623560"/>
            <a:ext cx="1417320" cy="411480"/>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palabras de mediana</a:t>
            </a:r>
            <a:endParaRPr lang="en-US" sz="1100" dirty="0"/>
          </a:p>
        </p:txBody>
      </p:sp>
      <p:pic>
        <p:nvPicPr>
          <p:cNvPr id="15" name="Image 0" descr="/mnt/user-data/uploads/konfio/reports/figures/deck_konfio/etiquetas_prevalencia.png">    </p:cNvPr>
          <p:cNvPicPr>
            <a:picLocks noChangeAspect="1"/>
          </p:cNvPicPr>
          <p:nvPr/>
        </p:nvPicPr>
        <p:blipFill>
          <a:blip r:embed="rId1"/>
          <a:stretch>
            <a:fillRect/>
          </a:stretch>
        </p:blipFill>
        <p:spPr>
          <a:xfrm>
            <a:off x="6172200" y="1828800"/>
            <a:ext cx="5501030" cy="4297680"/>
          </a:xfrm>
          <a:prstGeom prst="rect">
            <a:avLst/>
          </a:prstGeom>
        </p:spPr>
      </p:pic>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3 · PREPARACIÓN DE LOS DATOS</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Preparé dos versiones del texto, una para cada familia de modelos, y una partición sin fugas</a:t>
            </a:r>
            <a:endParaRPr lang="en-US" sz="2500" dirty="0"/>
          </a:p>
        </p:txBody>
      </p:sp>
      <p:sp>
        <p:nvSpPr>
          <p:cNvPr id="5" name="Shape 3"/>
          <p:cNvSpPr/>
          <p:nvPr/>
        </p:nvSpPr>
        <p:spPr>
          <a:xfrm>
            <a:off x="548640" y="1828800"/>
            <a:ext cx="5394960" cy="2514600"/>
          </a:xfrm>
          <a:prstGeom prst="roundRect">
            <a:avLst>
              <a:gd name="adj" fmla="val 4364"/>
            </a:avLst>
          </a:prstGeom>
          <a:solidFill>
            <a:srgbClr val="21103D"/>
          </a:solidFill>
          <a:ln w="12700">
            <a:solidFill>
              <a:srgbClr val="21103D"/>
            </a:solidFill>
            <a:prstDash val="solid"/>
          </a:ln>
        </p:spPr>
      </p:sp>
      <p:sp>
        <p:nvSpPr>
          <p:cNvPr id="6" name="Text 4"/>
          <p:cNvSpPr txBox="1"/>
          <p:nvPr/>
        </p:nvSpPr>
        <p:spPr>
          <a:xfrm>
            <a:off x="822960" y="1993392"/>
            <a:ext cx="4846320" cy="320040"/>
          </a:xfrm>
          <a:prstGeom prst="rect">
            <a:avLst/>
          </a:prstGeom>
          <a:noFill/>
          <a:ln/>
        </p:spPr>
        <p:txBody>
          <a:bodyPr wrap="square" lIns="0" tIns="0" rIns="0" bIns="0" rtlCol="0" anchor="t"/>
          <a:lstStyle/>
          <a:p>
            <a:pPr indent="0" marL="0">
              <a:buNone/>
            </a:pPr>
            <a:r>
              <a:rPr lang="en-US" sz="1600" b="1" dirty="0">
                <a:solidFill>
                  <a:srgbClr val="AD82FB"/>
                </a:solidFill>
                <a:latin typeface="Arial" pitchFamily="34" charset="0"/>
                <a:ea typeface="Arial" pitchFamily="34" charset="-122"/>
                <a:cs typeface="Arial" pitchFamily="34" charset="-120"/>
              </a:rPr>
              <a:t>Rama léxica, para TF-IDF</a:t>
            </a:r>
            <a:endParaRPr lang="en-US" sz="1600" dirty="0"/>
          </a:p>
        </p:txBody>
      </p:sp>
      <p:sp>
        <p:nvSpPr>
          <p:cNvPr id="7" name="Text 5"/>
          <p:cNvSpPr txBox="1"/>
          <p:nvPr/>
        </p:nvSpPr>
        <p:spPr>
          <a:xfrm>
            <a:off x="822960" y="2331720"/>
            <a:ext cx="4846320" cy="2743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Normalización agresiva: lo que importa son las palabras clave</a:t>
            </a:r>
            <a:endParaRPr lang="en-US" sz="1200" dirty="0"/>
          </a:p>
        </p:txBody>
      </p:sp>
      <p:sp>
        <p:nvSpPr>
          <p:cNvPr id="8" name="Text 6"/>
          <p:cNvSpPr txBox="1"/>
          <p:nvPr/>
        </p:nvSpPr>
        <p:spPr>
          <a:xfrm>
            <a:off x="822960" y="2697480"/>
            <a:ext cx="4937760" cy="155448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Corrijo la codificación y los espacios</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Paso todo a minúsculas</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Quito acentos (conservo la ñ), dígitos y puntuación</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Lematizo con spaCy (es_core_news_sm)</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Stopwords propias que conservan no y sin</a:t>
            </a:r>
            <a:endParaRPr lang="en-US" sz="1300" dirty="0"/>
          </a:p>
        </p:txBody>
      </p:sp>
      <p:sp>
        <p:nvSpPr>
          <p:cNvPr id="9" name="Shape 7"/>
          <p:cNvSpPr/>
          <p:nvPr/>
        </p:nvSpPr>
        <p:spPr>
          <a:xfrm>
            <a:off x="6217920" y="1828800"/>
            <a:ext cx="5394960" cy="2514600"/>
          </a:xfrm>
          <a:prstGeom prst="roundRect">
            <a:avLst>
              <a:gd name="adj" fmla="val 4364"/>
            </a:avLst>
          </a:prstGeom>
          <a:solidFill>
            <a:srgbClr val="21103D"/>
          </a:solidFill>
          <a:ln w="12700">
            <a:solidFill>
              <a:srgbClr val="21103D"/>
            </a:solidFill>
            <a:prstDash val="solid"/>
          </a:ln>
        </p:spPr>
      </p:sp>
      <p:sp>
        <p:nvSpPr>
          <p:cNvPr id="10" name="Text 8"/>
          <p:cNvSpPr txBox="1"/>
          <p:nvPr/>
        </p:nvSpPr>
        <p:spPr>
          <a:xfrm>
            <a:off x="6492240" y="1993392"/>
            <a:ext cx="4846320" cy="320040"/>
          </a:xfrm>
          <a:prstGeom prst="rect">
            <a:avLst/>
          </a:prstGeom>
          <a:noFill/>
          <a:ln/>
        </p:spPr>
        <p:txBody>
          <a:bodyPr wrap="square" lIns="0" tIns="0" rIns="0" bIns="0" rtlCol="0" anchor="t"/>
          <a:lstStyle/>
          <a:p>
            <a:pPr indent="0" marL="0">
              <a:buNone/>
            </a:pPr>
            <a:r>
              <a:rPr lang="en-US" sz="1600" b="1" dirty="0">
                <a:solidFill>
                  <a:srgbClr val="AD82FB"/>
                </a:solidFill>
                <a:latin typeface="Arial" pitchFamily="34" charset="0"/>
                <a:ea typeface="Arial" pitchFamily="34" charset="-122"/>
                <a:cs typeface="Arial" pitchFamily="34" charset="-120"/>
              </a:rPr>
              <a:t>Rama transformer, para e5</a:t>
            </a:r>
            <a:endParaRPr lang="en-US" sz="1600" dirty="0"/>
          </a:p>
        </p:txBody>
      </p:sp>
      <p:sp>
        <p:nvSpPr>
          <p:cNvPr id="11" name="Text 9"/>
          <p:cNvSpPr txBox="1"/>
          <p:nvPr/>
        </p:nvSpPr>
        <p:spPr>
          <a:xfrm>
            <a:off x="6492240" y="2331720"/>
            <a:ext cx="4846320" cy="2743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Texto casi original: el encoder preentrenado lo espera así</a:t>
            </a:r>
            <a:endParaRPr lang="en-US" sz="1200" dirty="0"/>
          </a:p>
        </p:txBody>
      </p:sp>
      <p:sp>
        <p:nvSpPr>
          <p:cNvPr id="12" name="Text 10"/>
          <p:cNvSpPr txBox="1"/>
          <p:nvPr/>
        </p:nvSpPr>
        <p:spPr>
          <a:xfrm>
            <a:off x="6492240" y="2697480"/>
            <a:ext cx="4937760" cy="1554480"/>
          </a:xfrm>
          <a:prstGeom prst="rect">
            <a:avLst/>
          </a:prstGeom>
          <a:noFill/>
          <a:ln/>
        </p:spPr>
        <p:txBody>
          <a:bodyPr wrap="square" lIns="0" tIns="0" rIns="0" bIns="0" rtlCol="0" anchor="t"/>
          <a:lstStyle/>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Corrijo la codificación y los espacios</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Conservo acentos, mayúsculas y puntuación</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Antepongo el prefijo "query: " que pide e5</a:t>
            </a:r>
            <a:endParaRPr lang="en-US" sz="1300" dirty="0"/>
          </a:p>
          <a:p>
            <a:pPr marL="342900" indent="-342900">
              <a:spcAft>
                <a:spcPts val="400"/>
              </a:spcAft>
              <a:buSzPct val="100000"/>
              <a:buFont typeface="+mj-lt"/>
              <a:buAutoNum type="arabicPeriod" startAt="1"/>
            </a:pPr>
            <a:r>
              <a:rPr lang="en-US" sz="1300" dirty="0">
                <a:solidFill>
                  <a:srgbClr val="F2EEF8"/>
                </a:solidFill>
                <a:latin typeface="Arial" pitchFamily="34" charset="0"/>
                <a:ea typeface="Arial" pitchFamily="34" charset="-122"/>
                <a:cs typeface="Arial" pitchFamily="34" charset="-120"/>
              </a:rPr>
              <a:t>Corto a 96 tokens: cubre el 100% de las respuestas</a:t>
            </a:r>
            <a:endParaRPr lang="en-US" sz="1300" dirty="0"/>
          </a:p>
        </p:txBody>
      </p:sp>
      <p:sp>
        <p:nvSpPr>
          <p:cNvPr id="13" name="Shape 11"/>
          <p:cNvSpPr/>
          <p:nvPr/>
        </p:nvSpPr>
        <p:spPr>
          <a:xfrm>
            <a:off x="548640" y="4526280"/>
            <a:ext cx="5394960" cy="1645920"/>
          </a:xfrm>
          <a:prstGeom prst="roundRect">
            <a:avLst>
              <a:gd name="adj" fmla="val 6667"/>
            </a:avLst>
          </a:prstGeom>
          <a:solidFill>
            <a:srgbClr val="21103D"/>
          </a:solidFill>
          <a:ln w="12700">
            <a:solidFill>
              <a:srgbClr val="21103D"/>
            </a:solidFill>
            <a:prstDash val="solid"/>
          </a:ln>
        </p:spPr>
      </p:sp>
      <p:sp>
        <p:nvSpPr>
          <p:cNvPr id="14" name="Text 12"/>
          <p:cNvSpPr txBox="1"/>
          <p:nvPr/>
        </p:nvSpPr>
        <p:spPr>
          <a:xfrm>
            <a:off x="822960" y="4663440"/>
            <a:ext cx="45720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FEATURES QUE CREÉ</a:t>
            </a:r>
            <a:endParaRPr lang="en-US" sz="1100" dirty="0"/>
          </a:p>
        </p:txBody>
      </p:sp>
      <p:sp>
        <p:nvSpPr>
          <p:cNvPr id="15" name="Text 13"/>
          <p:cNvSpPr txBox="1"/>
          <p:nvPr/>
        </p:nvSpPr>
        <p:spPr>
          <a:xfrm>
            <a:off x="822960" y="4983480"/>
            <a:ext cx="4937760" cy="114300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F2EEF8"/>
                </a:solidFill>
                <a:latin typeface="Arial" pitchFamily="34" charset="0"/>
                <a:ea typeface="Arial" pitchFamily="34" charset="-122"/>
                <a:cs typeface="Arial" pitchFamily="34" charset="-120"/>
              </a:rPr>
              <a:t>N-gramas TF-IDF de palabras (1-2) y de caracteres (3-5)</a:t>
            </a:r>
            <a:endParaRPr lang="en-US" sz="1300" dirty="0"/>
          </a:p>
          <a:p>
            <a:pPr marL="203200" indent="-203200">
              <a:spcAft>
                <a:spcPts val="800"/>
              </a:spcAft>
              <a:buSzPct val="100000"/>
              <a:buChar char="•"/>
            </a:pPr>
            <a:r>
              <a:rPr lang="en-US" sz="1300" dirty="0">
                <a:solidFill>
                  <a:srgbClr val="F2EEF8"/>
                </a:solidFill>
                <a:latin typeface="Arial" pitchFamily="34" charset="0"/>
                <a:ea typeface="Arial" pitchFamily="34" charset="-122"/>
                <a:cs typeface="Arial" pitchFamily="34" charset="-120"/>
              </a:rPr>
              <a:t>10 similitudes coseno contra las definiciones del codebook</a:t>
            </a:r>
            <a:endParaRPr lang="en-US" sz="1300" dirty="0"/>
          </a:p>
          <a:p>
            <a:pPr marL="203200" indent="-203200">
              <a:spcAft>
                <a:spcPts val="800"/>
              </a:spcAft>
              <a:buSzPct val="100000"/>
              <a:buChar char="•"/>
            </a:pPr>
            <a:r>
              <a:rPr lang="en-US" sz="1300" dirty="0">
                <a:solidFill>
                  <a:srgbClr val="F2EEF8"/>
                </a:solidFill>
                <a:latin typeface="Arial" pitchFamily="34" charset="0"/>
                <a:ea typeface="Arial" pitchFamily="34" charset="-122"/>
                <a:cs typeface="Arial" pitchFamily="34" charset="-120"/>
              </a:rPr>
              <a:t>Embeddings del e5 con fine-tuning, generados out-of-fold</a:t>
            </a:r>
            <a:endParaRPr lang="en-US" sz="1300" dirty="0"/>
          </a:p>
        </p:txBody>
      </p:sp>
      <p:sp>
        <p:nvSpPr>
          <p:cNvPr id="16" name="Text 14"/>
          <p:cNvSpPr txBox="1"/>
          <p:nvPr/>
        </p:nvSpPr>
        <p:spPr>
          <a:xfrm>
            <a:off x="6217920" y="4572000"/>
            <a:ext cx="54864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PARTICIÓN AGRUPADA POR TEXTO NORMALIZADO</a:t>
            </a:r>
            <a:endParaRPr lang="en-US" sz="1100" dirty="0"/>
          </a:p>
        </p:txBody>
      </p:sp>
      <p:sp>
        <p:nvSpPr>
          <p:cNvPr id="17" name="Shape 15"/>
          <p:cNvSpPr/>
          <p:nvPr/>
        </p:nvSpPr>
        <p:spPr>
          <a:xfrm>
            <a:off x="6217920" y="4983480"/>
            <a:ext cx="822960" cy="566928"/>
          </a:xfrm>
          <a:prstGeom prst="roundRect">
            <a:avLst>
              <a:gd name="adj" fmla="val 12903"/>
            </a:avLst>
          </a:prstGeom>
          <a:solidFill>
            <a:srgbClr val="5B2DB8"/>
          </a:solidFill>
          <a:ln w="15875">
            <a:solidFill>
              <a:srgbClr val="5B2DB8"/>
            </a:solidFill>
            <a:prstDash val="solid"/>
          </a:ln>
        </p:spPr>
      </p:sp>
      <p:sp>
        <p:nvSpPr>
          <p:cNvPr id="18" name="Text 16"/>
          <p:cNvSpPr txBox="1"/>
          <p:nvPr/>
        </p:nvSpPr>
        <p:spPr>
          <a:xfrm>
            <a:off x="6291072" y="4983480"/>
            <a:ext cx="676656" cy="566928"/>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Fold 1</a:t>
            </a:r>
            <a:endParaRPr lang="en-US" sz="1200" dirty="0"/>
          </a:p>
        </p:txBody>
      </p:sp>
      <p:sp>
        <p:nvSpPr>
          <p:cNvPr id="19" name="Shape 17"/>
          <p:cNvSpPr/>
          <p:nvPr/>
        </p:nvSpPr>
        <p:spPr>
          <a:xfrm>
            <a:off x="7104888" y="4983480"/>
            <a:ext cx="822960" cy="566928"/>
          </a:xfrm>
          <a:prstGeom prst="roundRect">
            <a:avLst>
              <a:gd name="adj" fmla="val 12903"/>
            </a:avLst>
          </a:prstGeom>
          <a:solidFill>
            <a:srgbClr val="5B2DB8"/>
          </a:solidFill>
          <a:ln w="15875">
            <a:solidFill>
              <a:srgbClr val="5B2DB8"/>
            </a:solidFill>
            <a:prstDash val="solid"/>
          </a:ln>
        </p:spPr>
      </p:sp>
      <p:sp>
        <p:nvSpPr>
          <p:cNvPr id="20" name="Text 18"/>
          <p:cNvSpPr txBox="1"/>
          <p:nvPr/>
        </p:nvSpPr>
        <p:spPr>
          <a:xfrm>
            <a:off x="7178040" y="4983480"/>
            <a:ext cx="676656" cy="566928"/>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Fold 2</a:t>
            </a:r>
            <a:endParaRPr lang="en-US" sz="1200" dirty="0"/>
          </a:p>
        </p:txBody>
      </p:sp>
      <p:sp>
        <p:nvSpPr>
          <p:cNvPr id="21" name="Shape 19"/>
          <p:cNvSpPr/>
          <p:nvPr/>
        </p:nvSpPr>
        <p:spPr>
          <a:xfrm>
            <a:off x="7991856" y="4983480"/>
            <a:ext cx="822960" cy="566928"/>
          </a:xfrm>
          <a:prstGeom prst="roundRect">
            <a:avLst>
              <a:gd name="adj" fmla="val 12903"/>
            </a:avLst>
          </a:prstGeom>
          <a:solidFill>
            <a:srgbClr val="5B2DB8"/>
          </a:solidFill>
          <a:ln w="15875">
            <a:solidFill>
              <a:srgbClr val="5B2DB8"/>
            </a:solidFill>
            <a:prstDash val="solid"/>
          </a:ln>
        </p:spPr>
      </p:sp>
      <p:sp>
        <p:nvSpPr>
          <p:cNvPr id="22" name="Text 20"/>
          <p:cNvSpPr txBox="1"/>
          <p:nvPr/>
        </p:nvSpPr>
        <p:spPr>
          <a:xfrm>
            <a:off x="8065008" y="4983480"/>
            <a:ext cx="676656" cy="566928"/>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Fold 3</a:t>
            </a:r>
            <a:endParaRPr lang="en-US" sz="1200" dirty="0"/>
          </a:p>
        </p:txBody>
      </p:sp>
      <p:sp>
        <p:nvSpPr>
          <p:cNvPr id="23" name="Shape 21"/>
          <p:cNvSpPr/>
          <p:nvPr/>
        </p:nvSpPr>
        <p:spPr>
          <a:xfrm>
            <a:off x="8878824" y="4983480"/>
            <a:ext cx="822960" cy="566928"/>
          </a:xfrm>
          <a:prstGeom prst="roundRect">
            <a:avLst>
              <a:gd name="adj" fmla="val 12903"/>
            </a:avLst>
          </a:prstGeom>
          <a:solidFill>
            <a:srgbClr val="5B2DB8"/>
          </a:solidFill>
          <a:ln w="15875">
            <a:solidFill>
              <a:srgbClr val="5B2DB8"/>
            </a:solidFill>
            <a:prstDash val="solid"/>
          </a:ln>
        </p:spPr>
      </p:sp>
      <p:sp>
        <p:nvSpPr>
          <p:cNvPr id="24" name="Text 22"/>
          <p:cNvSpPr txBox="1"/>
          <p:nvPr/>
        </p:nvSpPr>
        <p:spPr>
          <a:xfrm>
            <a:off x="8951976" y="4983480"/>
            <a:ext cx="676656" cy="566928"/>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Fold 4</a:t>
            </a:r>
            <a:endParaRPr lang="en-US" sz="1200" dirty="0"/>
          </a:p>
        </p:txBody>
      </p:sp>
      <p:sp>
        <p:nvSpPr>
          <p:cNvPr id="25" name="Shape 23"/>
          <p:cNvSpPr/>
          <p:nvPr/>
        </p:nvSpPr>
        <p:spPr>
          <a:xfrm>
            <a:off x="9765792" y="4983480"/>
            <a:ext cx="822960" cy="566928"/>
          </a:xfrm>
          <a:prstGeom prst="roundRect">
            <a:avLst>
              <a:gd name="adj" fmla="val 12903"/>
            </a:avLst>
          </a:prstGeom>
          <a:solidFill>
            <a:srgbClr val="5B2DB8"/>
          </a:solidFill>
          <a:ln w="15875">
            <a:solidFill>
              <a:srgbClr val="5B2DB8"/>
            </a:solidFill>
            <a:prstDash val="solid"/>
          </a:ln>
        </p:spPr>
      </p:sp>
      <p:sp>
        <p:nvSpPr>
          <p:cNvPr id="26" name="Text 24"/>
          <p:cNvSpPr txBox="1"/>
          <p:nvPr/>
        </p:nvSpPr>
        <p:spPr>
          <a:xfrm>
            <a:off x="9838944" y="4983480"/>
            <a:ext cx="676656" cy="566928"/>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Fold 5</a:t>
            </a:r>
            <a:endParaRPr lang="en-US" sz="1200" dirty="0"/>
          </a:p>
        </p:txBody>
      </p:sp>
      <p:sp>
        <p:nvSpPr>
          <p:cNvPr id="27" name="Shape 25"/>
          <p:cNvSpPr/>
          <p:nvPr/>
        </p:nvSpPr>
        <p:spPr>
          <a:xfrm>
            <a:off x="10698480" y="4983480"/>
            <a:ext cx="914400" cy="566928"/>
          </a:xfrm>
          <a:prstGeom prst="roundRect">
            <a:avLst>
              <a:gd name="adj" fmla="val 12903"/>
            </a:avLst>
          </a:prstGeom>
          <a:solidFill>
            <a:srgbClr val="D9637B"/>
          </a:solidFill>
          <a:ln w="15875">
            <a:solidFill>
              <a:srgbClr val="D9637B"/>
            </a:solidFill>
            <a:prstDash val="solid"/>
          </a:ln>
        </p:spPr>
      </p:sp>
      <p:sp>
        <p:nvSpPr>
          <p:cNvPr id="28" name="Text 26"/>
          <p:cNvSpPr txBox="1"/>
          <p:nvPr/>
        </p:nvSpPr>
        <p:spPr>
          <a:xfrm>
            <a:off x="10771632" y="4983480"/>
            <a:ext cx="768096" cy="566928"/>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Test</a:t>
            </a:r>
            <a:endParaRPr lang="en-US" sz="1200" dirty="0"/>
          </a:p>
        </p:txBody>
      </p:sp>
      <p:sp>
        <p:nvSpPr>
          <p:cNvPr id="29" name="Text 27"/>
          <p:cNvSpPr txBox="1"/>
          <p:nvPr/>
        </p:nvSpPr>
        <p:spPr>
          <a:xfrm>
            <a:off x="6217920" y="5623560"/>
            <a:ext cx="4389120" cy="274320"/>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CV: 5,703 filas para elegir modelo, mezcla y umbrales</a:t>
            </a:r>
            <a:endParaRPr lang="en-US" sz="1100" dirty="0"/>
          </a:p>
        </p:txBody>
      </p:sp>
      <p:sp>
        <p:nvSpPr>
          <p:cNvPr id="30" name="Text 28"/>
          <p:cNvSpPr txBox="1"/>
          <p:nvPr/>
        </p:nvSpPr>
        <p:spPr>
          <a:xfrm>
            <a:off x="9966960" y="5623560"/>
            <a:ext cx="1645920" cy="457200"/>
          </a:xfrm>
          <a:prstGeom prst="rect">
            <a:avLst/>
          </a:prstGeom>
          <a:noFill/>
          <a:ln/>
        </p:spPr>
        <p:txBody>
          <a:bodyPr wrap="square" lIns="0" tIns="0" rIns="0" bIns="0" rtlCol="0" anchor="t"/>
          <a:lstStyle/>
          <a:p>
            <a:pPr algn="r" indent="0" marL="0">
              <a:buNone/>
            </a:pPr>
            <a:r>
              <a:rPr lang="en-US" sz="1100" dirty="0">
                <a:solidFill>
                  <a:srgbClr val="B9AECF"/>
                </a:solidFill>
                <a:latin typeface="Arial" pitchFamily="34" charset="0"/>
                <a:ea typeface="Arial" pitchFamily="34" charset="-122"/>
                <a:cs typeface="Arial" pitchFamily="34" charset="-120"/>
              </a:rPr>
              <a:t>988 filas, usado una vez</a:t>
            </a:r>
            <a:endParaRPr lang="en-US" sz="1100" dirty="0"/>
          </a:p>
        </p:txBody>
      </p:sp>
      <p:sp>
        <p:nvSpPr>
          <p:cNvPr id="31" name="Text 29"/>
          <p:cNvSpPr txBox="1"/>
          <p:nvPr/>
        </p:nvSpPr>
        <p:spPr>
          <a:xfrm>
            <a:off x="6217920" y="5897880"/>
            <a:ext cx="5394960" cy="274320"/>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Un texto repetido nunca queda a ambos lados; estratificación iterativa multietiqueta</a:t>
            </a:r>
            <a:endParaRPr lang="en-US" sz="11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4 · MODELADO</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Cumplí el punto de partida pedido, deep learning que genera features para un modelo clásico, y luego lo superé</a:t>
            </a:r>
            <a:endParaRPr lang="en-US" sz="2500" dirty="0"/>
          </a:p>
        </p:txBody>
      </p:sp>
      <p:sp>
        <p:nvSpPr>
          <p:cNvPr id="5" name="Shape 3"/>
          <p:cNvSpPr/>
          <p:nvPr/>
        </p:nvSpPr>
        <p:spPr>
          <a:xfrm>
            <a:off x="548640" y="1783080"/>
            <a:ext cx="11064240" cy="2057400"/>
          </a:xfrm>
          <a:prstGeom prst="roundRect">
            <a:avLst>
              <a:gd name="adj" fmla="val 5333"/>
            </a:avLst>
          </a:prstGeom>
          <a:solidFill>
            <a:srgbClr val="21103D"/>
          </a:solidFill>
          <a:ln w="12700">
            <a:solidFill>
              <a:srgbClr val="21103D"/>
            </a:solidFill>
            <a:prstDash val="solid"/>
          </a:ln>
        </p:spPr>
      </p:sp>
      <p:sp>
        <p:nvSpPr>
          <p:cNvPr id="6" name="Text 4"/>
          <p:cNvSpPr txBox="1"/>
          <p:nvPr/>
        </p:nvSpPr>
        <p:spPr>
          <a:xfrm>
            <a:off x="822960" y="1920240"/>
            <a:ext cx="73152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PUNTO DE PARTIDA PEDIDO · E7</a:t>
            </a:r>
            <a:endParaRPr lang="en-US" sz="1100" dirty="0"/>
          </a:p>
        </p:txBody>
      </p:sp>
      <p:sp>
        <p:nvSpPr>
          <p:cNvPr id="7" name="Shape 5"/>
          <p:cNvSpPr/>
          <p:nvPr/>
        </p:nvSpPr>
        <p:spPr>
          <a:xfrm>
            <a:off x="822960" y="2377440"/>
            <a:ext cx="1554480" cy="1097280"/>
          </a:xfrm>
          <a:prstGeom prst="roundRect">
            <a:avLst>
              <a:gd name="adj" fmla="val 6667"/>
            </a:avLst>
          </a:prstGeom>
          <a:solidFill>
            <a:srgbClr val="2A1650"/>
          </a:solidFill>
          <a:ln w="15875">
            <a:solidFill>
              <a:srgbClr val="8644F9"/>
            </a:solidFill>
            <a:prstDash val="solid"/>
          </a:ln>
        </p:spPr>
      </p:sp>
      <p:sp>
        <p:nvSpPr>
          <p:cNvPr id="8" name="Text 6"/>
          <p:cNvSpPr txBox="1"/>
          <p:nvPr/>
        </p:nvSpPr>
        <p:spPr>
          <a:xfrm>
            <a:off x="896112" y="2377440"/>
            <a:ext cx="1408176" cy="1097280"/>
          </a:xfrm>
          <a:prstGeom prst="rect">
            <a:avLst/>
          </a:prstGeom>
          <a:noFill/>
          <a:ln/>
        </p:spPr>
        <p:txBody>
          <a:bodyPr wrap="square" lIns="0" tIns="0" rIns="0" bIns="0" rtlCol="0" anchor="ctr"/>
          <a:lstStyle/>
          <a:p>
            <a:pPr algn="ctr" indent="0" marL="0">
              <a:buNone/>
            </a:pPr>
            <a:r>
              <a:rPr lang="en-US" sz="1200" dirty="0">
                <a:solidFill>
                  <a:srgbClr val="F2EEF8"/>
                </a:solidFill>
                <a:latin typeface="Arial" pitchFamily="34" charset="0"/>
                <a:ea typeface="Arial" pitchFamily="34" charset="-122"/>
                <a:cs typeface="Arial" pitchFamily="34" charset="-120"/>
              </a:rPr>
              <a:t>Respuesta en texto libre</a:t>
            </a:r>
            <a:endParaRPr lang="en-US" sz="1200" dirty="0"/>
          </a:p>
        </p:txBody>
      </p:sp>
      <p:sp>
        <p:nvSpPr>
          <p:cNvPr id="9" name="Shape 7"/>
          <p:cNvSpPr/>
          <p:nvPr/>
        </p:nvSpPr>
        <p:spPr>
          <a:xfrm>
            <a:off x="2743200" y="2377440"/>
            <a:ext cx="2377440" cy="1097280"/>
          </a:xfrm>
          <a:prstGeom prst="roundRect">
            <a:avLst>
              <a:gd name="adj" fmla="val 6667"/>
            </a:avLst>
          </a:prstGeom>
          <a:solidFill>
            <a:srgbClr val="2A1650"/>
          </a:solidFill>
          <a:ln w="15875">
            <a:solidFill>
              <a:srgbClr val="8644F9"/>
            </a:solidFill>
            <a:prstDash val="solid"/>
          </a:ln>
        </p:spPr>
      </p:sp>
      <p:sp>
        <p:nvSpPr>
          <p:cNvPr id="10" name="Text 8"/>
          <p:cNvSpPr txBox="1"/>
          <p:nvPr/>
        </p:nvSpPr>
        <p:spPr>
          <a:xfrm>
            <a:off x="2816352" y="2377440"/>
            <a:ext cx="2231136" cy="1097280"/>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e5 multilingüe con fine-tuning</a:t>
            </a:r>
            <a:endParaRPr lang="en-US" sz="1200" dirty="0"/>
          </a:p>
          <a:p>
            <a:pPr algn="ctr" indent="0" marL="0">
              <a:buNone/>
            </a:pPr>
            <a:r>
              <a:rPr lang="en-US" sz="1200" b="1" dirty="0">
                <a:solidFill>
                  <a:srgbClr val="F2EEF8"/>
                </a:solidFill>
                <a:latin typeface="Arial" pitchFamily="34" charset="0"/>
                <a:ea typeface="Arial" pitchFamily="34" charset="-122"/>
                <a:cs typeface="Arial" pitchFamily="34" charset="-120"/>
              </a:rPr>
              <a:t>(red profunda, etapa 1)</a:t>
            </a:r>
            <a:endParaRPr lang="en-US" sz="1200" dirty="0"/>
          </a:p>
        </p:txBody>
      </p:sp>
      <p:sp>
        <p:nvSpPr>
          <p:cNvPr id="11" name="Shape 9"/>
          <p:cNvSpPr/>
          <p:nvPr/>
        </p:nvSpPr>
        <p:spPr>
          <a:xfrm>
            <a:off x="5486400" y="2377440"/>
            <a:ext cx="2468880" cy="1097280"/>
          </a:xfrm>
          <a:prstGeom prst="roundRect">
            <a:avLst>
              <a:gd name="adj" fmla="val 6667"/>
            </a:avLst>
          </a:prstGeom>
          <a:solidFill>
            <a:srgbClr val="2A1650"/>
          </a:solidFill>
          <a:ln w="15875">
            <a:solidFill>
              <a:srgbClr val="8644F9"/>
            </a:solidFill>
            <a:prstDash val="solid"/>
          </a:ln>
        </p:spPr>
      </p:sp>
      <p:sp>
        <p:nvSpPr>
          <p:cNvPr id="12" name="Text 10"/>
          <p:cNvSpPr txBox="1"/>
          <p:nvPr/>
        </p:nvSpPr>
        <p:spPr>
          <a:xfrm>
            <a:off x="5559552" y="2377440"/>
            <a:ext cx="2322576" cy="1097280"/>
          </a:xfrm>
          <a:prstGeom prst="rect">
            <a:avLst/>
          </a:prstGeom>
          <a:noFill/>
          <a:ln/>
        </p:spPr>
        <p:txBody>
          <a:bodyPr wrap="square" lIns="0" tIns="0" rIns="0" bIns="0" rtlCol="0" anchor="ctr"/>
          <a:lstStyle/>
          <a:p>
            <a:pPr algn="ctr" indent="0" marL="0">
              <a:buNone/>
            </a:pPr>
            <a:r>
              <a:rPr lang="en-US" sz="1100" dirty="0">
                <a:solidFill>
                  <a:srgbClr val="F2EEF8"/>
                </a:solidFill>
                <a:latin typeface="Arial" pitchFamily="34" charset="0"/>
                <a:ea typeface="Arial" pitchFamily="34" charset="-122"/>
                <a:cs typeface="Arial" pitchFamily="34" charset="-120"/>
              </a:rPr>
              <a:t>Features: embedding de 768 dim. + probabilidades TF-IDF + similitud codebook</a:t>
            </a:r>
            <a:endParaRPr lang="en-US" sz="1100" dirty="0"/>
          </a:p>
        </p:txBody>
      </p:sp>
      <p:sp>
        <p:nvSpPr>
          <p:cNvPr id="13" name="Shape 11"/>
          <p:cNvSpPr/>
          <p:nvPr/>
        </p:nvSpPr>
        <p:spPr>
          <a:xfrm>
            <a:off x="8321040" y="2377440"/>
            <a:ext cx="1737360" cy="1097280"/>
          </a:xfrm>
          <a:prstGeom prst="roundRect">
            <a:avLst>
              <a:gd name="adj" fmla="val 6667"/>
            </a:avLst>
          </a:prstGeom>
          <a:solidFill>
            <a:srgbClr val="2A1650"/>
          </a:solidFill>
          <a:ln w="15875">
            <a:solidFill>
              <a:srgbClr val="8644F9"/>
            </a:solidFill>
            <a:prstDash val="solid"/>
          </a:ln>
        </p:spPr>
      </p:sp>
      <p:sp>
        <p:nvSpPr>
          <p:cNvPr id="14" name="Text 12"/>
          <p:cNvSpPr txBox="1"/>
          <p:nvPr/>
        </p:nvSpPr>
        <p:spPr>
          <a:xfrm>
            <a:off x="8394192" y="2377440"/>
            <a:ext cx="1591056" cy="1097280"/>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LightGBM por etiqueta</a:t>
            </a:r>
            <a:endParaRPr lang="en-US" sz="1200" dirty="0"/>
          </a:p>
          <a:p>
            <a:pPr algn="ctr" indent="0" marL="0">
              <a:buNone/>
            </a:pPr>
            <a:r>
              <a:rPr lang="en-US" sz="1200" b="1" dirty="0">
                <a:solidFill>
                  <a:srgbClr val="F2EEF8"/>
                </a:solidFill>
                <a:latin typeface="Arial" pitchFamily="34" charset="0"/>
                <a:ea typeface="Arial" pitchFamily="34" charset="-122"/>
                <a:cs typeface="Arial" pitchFamily="34" charset="-120"/>
              </a:rPr>
              <a:t>(etapa 2)</a:t>
            </a:r>
            <a:endParaRPr lang="en-US" sz="1200" dirty="0"/>
          </a:p>
        </p:txBody>
      </p:sp>
      <p:sp>
        <p:nvSpPr>
          <p:cNvPr id="15" name="Shape 13"/>
          <p:cNvSpPr/>
          <p:nvPr/>
        </p:nvSpPr>
        <p:spPr>
          <a:xfrm>
            <a:off x="2377440" y="2926080"/>
            <a:ext cx="365760" cy="0"/>
          </a:xfrm>
          <a:prstGeom prst="line">
            <a:avLst/>
          </a:prstGeom>
          <a:noFill/>
          <a:ln w="19050">
            <a:solidFill>
              <a:srgbClr val="AD82FB"/>
            </a:solidFill>
            <a:prstDash val="solid"/>
            <a:tailEnd type="triangle"/>
          </a:ln>
        </p:spPr>
      </p:sp>
      <p:sp>
        <p:nvSpPr>
          <p:cNvPr id="16" name="Shape 14"/>
          <p:cNvSpPr/>
          <p:nvPr/>
        </p:nvSpPr>
        <p:spPr>
          <a:xfrm>
            <a:off x="5120640" y="2926080"/>
            <a:ext cx="365760" cy="0"/>
          </a:xfrm>
          <a:prstGeom prst="line">
            <a:avLst/>
          </a:prstGeom>
          <a:noFill/>
          <a:ln w="19050">
            <a:solidFill>
              <a:srgbClr val="AD82FB"/>
            </a:solidFill>
            <a:prstDash val="solid"/>
            <a:tailEnd type="triangle"/>
          </a:ln>
        </p:spPr>
      </p:sp>
      <p:sp>
        <p:nvSpPr>
          <p:cNvPr id="17" name="Shape 15"/>
          <p:cNvSpPr/>
          <p:nvPr/>
        </p:nvSpPr>
        <p:spPr>
          <a:xfrm>
            <a:off x="7955280" y="2926080"/>
            <a:ext cx="365760" cy="0"/>
          </a:xfrm>
          <a:prstGeom prst="line">
            <a:avLst/>
          </a:prstGeom>
          <a:noFill/>
          <a:ln w="19050">
            <a:solidFill>
              <a:srgbClr val="AD82FB"/>
            </a:solidFill>
            <a:prstDash val="solid"/>
            <a:tailEnd type="triangle"/>
          </a:ln>
        </p:spPr>
      </p:sp>
      <p:sp>
        <p:nvSpPr>
          <p:cNvPr id="18" name="Shape 16"/>
          <p:cNvSpPr/>
          <p:nvPr/>
        </p:nvSpPr>
        <p:spPr>
          <a:xfrm>
            <a:off x="10058400" y="2926080"/>
            <a:ext cx="274320" cy="0"/>
          </a:xfrm>
          <a:prstGeom prst="line">
            <a:avLst/>
          </a:prstGeom>
          <a:noFill/>
          <a:ln w="19050">
            <a:solidFill>
              <a:srgbClr val="AD82FB"/>
            </a:solidFill>
            <a:prstDash val="solid"/>
            <a:tailEnd type="triangle"/>
          </a:ln>
        </p:spPr>
      </p:sp>
      <p:sp>
        <p:nvSpPr>
          <p:cNvPr id="19" name="Text 17"/>
          <p:cNvSpPr txBox="1"/>
          <p:nvPr/>
        </p:nvSpPr>
        <p:spPr>
          <a:xfrm>
            <a:off x="10332720" y="2560320"/>
            <a:ext cx="1188720" cy="457200"/>
          </a:xfrm>
          <a:prstGeom prst="rect">
            <a:avLst/>
          </a:prstGeom>
          <a:noFill/>
          <a:ln/>
        </p:spPr>
        <p:txBody>
          <a:bodyPr wrap="square" lIns="0" tIns="0" rIns="0" bIns="0" rtlCol="0" anchor="t"/>
          <a:lstStyle/>
          <a:p>
            <a:pPr algn="ctr" indent="0" marL="0">
              <a:buNone/>
            </a:pPr>
            <a:r>
              <a:rPr lang="en-US" sz="2600" b="1" dirty="0">
                <a:solidFill>
                  <a:srgbClr val="AD82FB"/>
                </a:solidFill>
                <a:latin typeface="Arial" pitchFamily="34" charset="0"/>
                <a:ea typeface="Arial" pitchFamily="34" charset="-122"/>
                <a:cs typeface="Arial" pitchFamily="34" charset="-120"/>
              </a:rPr>
              <a:t>0.702</a:t>
            </a:r>
            <a:endParaRPr lang="en-US" sz="2600" dirty="0"/>
          </a:p>
        </p:txBody>
      </p:sp>
      <p:sp>
        <p:nvSpPr>
          <p:cNvPr id="20" name="Text 18"/>
          <p:cNvSpPr txBox="1"/>
          <p:nvPr/>
        </p:nvSpPr>
        <p:spPr>
          <a:xfrm>
            <a:off x="10332720" y="3035808"/>
            <a:ext cx="1188720" cy="274320"/>
          </a:xfrm>
          <a:prstGeom prst="rect">
            <a:avLst/>
          </a:prstGeom>
          <a:noFill/>
          <a:ln/>
        </p:spPr>
        <p:txBody>
          <a:bodyPr wrap="square" lIns="0" tIns="0" rIns="0" bIns="0" rtlCol="0" anchor="t"/>
          <a:lstStyle/>
          <a:p>
            <a:pPr algn="ctr" indent="0" marL="0">
              <a:buNone/>
            </a:pPr>
            <a:r>
              <a:rPr lang="en-US" sz="1000" dirty="0">
                <a:solidFill>
                  <a:srgbClr val="B9AECF"/>
                </a:solidFill>
                <a:latin typeface="Arial" pitchFamily="34" charset="0"/>
                <a:ea typeface="Arial" pitchFamily="34" charset="-122"/>
                <a:cs typeface="Arial" pitchFamily="34" charset="-120"/>
              </a:rPr>
              <a:t>macro F1 CV</a:t>
            </a:r>
            <a:endParaRPr lang="en-US" sz="1000" dirty="0"/>
          </a:p>
        </p:txBody>
      </p:sp>
      <p:sp>
        <p:nvSpPr>
          <p:cNvPr id="21" name="Shape 19"/>
          <p:cNvSpPr/>
          <p:nvPr/>
        </p:nvSpPr>
        <p:spPr>
          <a:xfrm>
            <a:off x="548640" y="4023360"/>
            <a:ext cx="11064240" cy="2148840"/>
          </a:xfrm>
          <a:prstGeom prst="roundRect">
            <a:avLst>
              <a:gd name="adj" fmla="val 5106"/>
            </a:avLst>
          </a:prstGeom>
          <a:solidFill>
            <a:srgbClr val="2A1650"/>
          </a:solidFill>
          <a:ln w="12700">
            <a:solidFill>
              <a:srgbClr val="2A1650"/>
            </a:solidFill>
            <a:prstDash val="solid"/>
          </a:ln>
        </p:spPr>
      </p:sp>
      <p:sp>
        <p:nvSpPr>
          <p:cNvPr id="22" name="Text 20"/>
          <p:cNvSpPr txBox="1"/>
          <p:nvPr/>
        </p:nvSpPr>
        <p:spPr>
          <a:xfrm>
            <a:off x="822960" y="4160520"/>
            <a:ext cx="100584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MODELO FINAL · E9b: MEZCLA DE DOS MODELOS QUE SE EQUIVOCAN DISTINTO</a:t>
            </a:r>
            <a:endParaRPr lang="en-US" sz="1100" dirty="0"/>
          </a:p>
        </p:txBody>
      </p:sp>
      <p:sp>
        <p:nvSpPr>
          <p:cNvPr id="23" name="Shape 21"/>
          <p:cNvSpPr/>
          <p:nvPr/>
        </p:nvSpPr>
        <p:spPr>
          <a:xfrm>
            <a:off x="822960" y="4846320"/>
            <a:ext cx="1554480" cy="868680"/>
          </a:xfrm>
          <a:prstGeom prst="roundRect">
            <a:avLst>
              <a:gd name="adj" fmla="val 8421"/>
            </a:avLst>
          </a:prstGeom>
          <a:solidFill>
            <a:srgbClr val="21103D"/>
          </a:solidFill>
          <a:ln w="15875">
            <a:solidFill>
              <a:srgbClr val="8644F9"/>
            </a:solidFill>
            <a:prstDash val="solid"/>
          </a:ln>
        </p:spPr>
      </p:sp>
      <p:sp>
        <p:nvSpPr>
          <p:cNvPr id="24" name="Text 22"/>
          <p:cNvSpPr txBox="1"/>
          <p:nvPr/>
        </p:nvSpPr>
        <p:spPr>
          <a:xfrm>
            <a:off x="896112" y="4846320"/>
            <a:ext cx="1408176" cy="868680"/>
          </a:xfrm>
          <a:prstGeom prst="rect">
            <a:avLst/>
          </a:prstGeom>
          <a:noFill/>
          <a:ln/>
        </p:spPr>
        <p:txBody>
          <a:bodyPr wrap="square" lIns="0" tIns="0" rIns="0" bIns="0" rtlCol="0" anchor="ctr"/>
          <a:lstStyle/>
          <a:p>
            <a:pPr algn="ctr" indent="0" marL="0">
              <a:buNone/>
            </a:pPr>
            <a:r>
              <a:rPr lang="en-US" sz="1200" dirty="0">
                <a:solidFill>
                  <a:srgbClr val="F2EEF8"/>
                </a:solidFill>
                <a:latin typeface="Arial" pitchFamily="34" charset="0"/>
                <a:ea typeface="Arial" pitchFamily="34" charset="-122"/>
                <a:cs typeface="Arial" pitchFamily="34" charset="-120"/>
              </a:rPr>
              <a:t>Respuesta en texto libre</a:t>
            </a:r>
            <a:endParaRPr lang="en-US" sz="1200" dirty="0"/>
          </a:p>
        </p:txBody>
      </p:sp>
      <p:sp>
        <p:nvSpPr>
          <p:cNvPr id="25" name="Shape 23"/>
          <p:cNvSpPr/>
          <p:nvPr/>
        </p:nvSpPr>
        <p:spPr>
          <a:xfrm>
            <a:off x="2743200" y="4526280"/>
            <a:ext cx="3017520" cy="640080"/>
          </a:xfrm>
          <a:prstGeom prst="roundRect">
            <a:avLst>
              <a:gd name="adj" fmla="val 11429"/>
            </a:avLst>
          </a:prstGeom>
          <a:solidFill>
            <a:srgbClr val="21103D"/>
          </a:solidFill>
          <a:ln w="15875">
            <a:solidFill>
              <a:srgbClr val="8644F9"/>
            </a:solidFill>
            <a:prstDash val="solid"/>
          </a:ln>
        </p:spPr>
      </p:sp>
      <p:sp>
        <p:nvSpPr>
          <p:cNvPr id="26" name="Text 24"/>
          <p:cNvSpPr txBox="1"/>
          <p:nvPr/>
        </p:nvSpPr>
        <p:spPr>
          <a:xfrm>
            <a:off x="2816352" y="4526280"/>
            <a:ext cx="2871216" cy="640080"/>
          </a:xfrm>
          <a:prstGeom prst="rect">
            <a:avLst/>
          </a:prstGeom>
          <a:noFill/>
          <a:ln/>
        </p:spPr>
        <p:txBody>
          <a:bodyPr wrap="square" lIns="0" tIns="0" rIns="0" bIns="0" rtlCol="0" anchor="ctr"/>
          <a:lstStyle/>
          <a:p>
            <a:pPr algn="ctr" indent="0" marL="0">
              <a:buNone/>
            </a:pPr>
            <a:r>
              <a:rPr lang="en-US" sz="1100" b="1" dirty="0">
                <a:solidFill>
                  <a:srgbClr val="F2EEF8"/>
                </a:solidFill>
                <a:latin typeface="Arial" pitchFamily="34" charset="0"/>
                <a:ea typeface="Arial" pitchFamily="34" charset="-122"/>
                <a:cs typeface="Arial" pitchFamily="34" charset="-120"/>
              </a:rPr>
              <a:t>e5 con fine-tuning: 10 probabilidades</a:t>
            </a:r>
            <a:endParaRPr lang="en-US" sz="1100" dirty="0"/>
          </a:p>
        </p:txBody>
      </p:sp>
      <p:sp>
        <p:nvSpPr>
          <p:cNvPr id="27" name="Shape 25"/>
          <p:cNvSpPr/>
          <p:nvPr/>
        </p:nvSpPr>
        <p:spPr>
          <a:xfrm>
            <a:off x="2743200" y="5349240"/>
            <a:ext cx="3017520" cy="640080"/>
          </a:xfrm>
          <a:prstGeom prst="roundRect">
            <a:avLst>
              <a:gd name="adj" fmla="val 11429"/>
            </a:avLst>
          </a:prstGeom>
          <a:solidFill>
            <a:srgbClr val="21103D"/>
          </a:solidFill>
          <a:ln w="15875">
            <a:solidFill>
              <a:srgbClr val="8644F9"/>
            </a:solidFill>
            <a:prstDash val="solid"/>
          </a:ln>
        </p:spPr>
      </p:sp>
      <p:sp>
        <p:nvSpPr>
          <p:cNvPr id="28" name="Text 26"/>
          <p:cNvSpPr txBox="1"/>
          <p:nvPr/>
        </p:nvSpPr>
        <p:spPr>
          <a:xfrm>
            <a:off x="2816352" y="5349240"/>
            <a:ext cx="2871216" cy="640080"/>
          </a:xfrm>
          <a:prstGeom prst="rect">
            <a:avLst/>
          </a:prstGeom>
          <a:noFill/>
          <a:ln/>
        </p:spPr>
        <p:txBody>
          <a:bodyPr wrap="square" lIns="0" tIns="0" rIns="0" bIns="0" rtlCol="0" anchor="ctr"/>
          <a:lstStyle/>
          <a:p>
            <a:pPr algn="ctr" indent="0" marL="0">
              <a:buNone/>
            </a:pPr>
            <a:r>
              <a:rPr lang="en-US" sz="1100" b="1" dirty="0">
                <a:solidFill>
                  <a:srgbClr val="F2EEF8"/>
                </a:solidFill>
                <a:latin typeface="Arial" pitchFamily="34" charset="0"/>
                <a:ea typeface="Arial" pitchFamily="34" charset="-122"/>
                <a:cs typeface="Arial" pitchFamily="34" charset="-120"/>
              </a:rPr>
              <a:t>TF-IDF + regresión logística (B2)</a:t>
            </a:r>
            <a:endParaRPr lang="en-US" sz="1100" dirty="0"/>
          </a:p>
        </p:txBody>
      </p:sp>
      <p:sp>
        <p:nvSpPr>
          <p:cNvPr id="29" name="Shape 27"/>
          <p:cNvSpPr/>
          <p:nvPr/>
        </p:nvSpPr>
        <p:spPr>
          <a:xfrm>
            <a:off x="6126480" y="4846320"/>
            <a:ext cx="1463040" cy="868680"/>
          </a:xfrm>
          <a:prstGeom prst="roundRect">
            <a:avLst>
              <a:gd name="adj" fmla="val 8421"/>
            </a:avLst>
          </a:prstGeom>
          <a:solidFill>
            <a:srgbClr val="21103D"/>
          </a:solidFill>
          <a:ln w="15875">
            <a:solidFill>
              <a:srgbClr val="8644F9"/>
            </a:solidFill>
            <a:prstDash val="solid"/>
          </a:ln>
        </p:spPr>
      </p:sp>
      <p:sp>
        <p:nvSpPr>
          <p:cNvPr id="30" name="Text 28"/>
          <p:cNvSpPr txBox="1"/>
          <p:nvPr/>
        </p:nvSpPr>
        <p:spPr>
          <a:xfrm>
            <a:off x="6199632" y="4846320"/>
            <a:ext cx="1316736" cy="868680"/>
          </a:xfrm>
          <a:prstGeom prst="rect">
            <a:avLst/>
          </a:prstGeom>
          <a:noFill/>
          <a:ln/>
        </p:spPr>
        <p:txBody>
          <a:bodyPr wrap="square" lIns="0" tIns="0" rIns="0" bIns="0" rtlCol="0" anchor="ctr"/>
          <a:lstStyle/>
          <a:p>
            <a:pPr algn="ctr" indent="0" marL="0">
              <a:buNone/>
            </a:pPr>
            <a:r>
              <a:rPr lang="en-US" sz="1200" dirty="0">
                <a:solidFill>
                  <a:srgbClr val="F2EEF8"/>
                </a:solidFill>
                <a:latin typeface="Arial" pitchFamily="34" charset="0"/>
                <a:ea typeface="Arial" pitchFamily="34" charset="-122"/>
                <a:cs typeface="Arial" pitchFamily="34" charset="-120"/>
              </a:rPr>
              <a:t>Mezcla 0.5 / 0.5</a:t>
            </a:r>
            <a:endParaRPr lang="en-US" sz="1200" dirty="0"/>
          </a:p>
        </p:txBody>
      </p:sp>
      <p:sp>
        <p:nvSpPr>
          <p:cNvPr id="31" name="Shape 29"/>
          <p:cNvSpPr/>
          <p:nvPr/>
        </p:nvSpPr>
        <p:spPr>
          <a:xfrm>
            <a:off x="7955280" y="4846320"/>
            <a:ext cx="2103120" cy="868680"/>
          </a:xfrm>
          <a:prstGeom prst="roundRect">
            <a:avLst>
              <a:gd name="adj" fmla="val 8421"/>
            </a:avLst>
          </a:prstGeom>
          <a:solidFill>
            <a:srgbClr val="21103D"/>
          </a:solidFill>
          <a:ln w="15875">
            <a:solidFill>
              <a:srgbClr val="8644F9"/>
            </a:solidFill>
            <a:prstDash val="solid"/>
          </a:ln>
        </p:spPr>
      </p:sp>
      <p:sp>
        <p:nvSpPr>
          <p:cNvPr id="32" name="Text 30"/>
          <p:cNvSpPr txBox="1"/>
          <p:nvPr/>
        </p:nvSpPr>
        <p:spPr>
          <a:xfrm>
            <a:off x="8028432" y="4846320"/>
            <a:ext cx="1956816" cy="868680"/>
          </a:xfrm>
          <a:prstGeom prst="rect">
            <a:avLst/>
          </a:prstGeom>
          <a:noFill/>
          <a:ln/>
        </p:spPr>
        <p:txBody>
          <a:bodyPr wrap="square" lIns="0" tIns="0" rIns="0" bIns="0" rtlCol="0" anchor="ctr"/>
          <a:lstStyle/>
          <a:p>
            <a:pPr algn="ctr" indent="0" marL="0">
              <a:buNone/>
            </a:pPr>
            <a:r>
              <a:rPr lang="en-US" sz="1100" dirty="0">
                <a:solidFill>
                  <a:srgbClr val="F2EEF8"/>
                </a:solidFill>
                <a:latin typeface="Arial" pitchFamily="34" charset="0"/>
                <a:ea typeface="Arial" pitchFamily="34" charset="-122"/>
                <a:cs typeface="Arial" pitchFamily="34" charset="-120"/>
              </a:rPr>
              <a:t>Umbral por etiqueta + reglas de decodificación</a:t>
            </a:r>
            <a:endParaRPr lang="en-US" sz="1100" dirty="0"/>
          </a:p>
        </p:txBody>
      </p:sp>
      <p:sp>
        <p:nvSpPr>
          <p:cNvPr id="33" name="Shape 31"/>
          <p:cNvSpPr/>
          <p:nvPr/>
        </p:nvSpPr>
        <p:spPr>
          <a:xfrm flipV="1">
            <a:off x="2377440" y="4846320"/>
            <a:ext cx="365760" cy="274320"/>
          </a:xfrm>
          <a:prstGeom prst="line">
            <a:avLst/>
          </a:prstGeom>
          <a:noFill/>
          <a:ln w="19050">
            <a:solidFill>
              <a:srgbClr val="AD82FB"/>
            </a:solidFill>
            <a:prstDash val="solid"/>
            <a:tailEnd type="triangle"/>
          </a:ln>
        </p:spPr>
      </p:sp>
      <p:sp>
        <p:nvSpPr>
          <p:cNvPr id="34" name="Shape 32"/>
          <p:cNvSpPr/>
          <p:nvPr/>
        </p:nvSpPr>
        <p:spPr>
          <a:xfrm>
            <a:off x="2377440" y="5440680"/>
            <a:ext cx="365760" cy="228600"/>
          </a:xfrm>
          <a:prstGeom prst="line">
            <a:avLst/>
          </a:prstGeom>
          <a:noFill/>
          <a:ln w="19050">
            <a:solidFill>
              <a:srgbClr val="AD82FB"/>
            </a:solidFill>
            <a:prstDash val="solid"/>
            <a:tailEnd type="triangle"/>
          </a:ln>
        </p:spPr>
      </p:sp>
      <p:sp>
        <p:nvSpPr>
          <p:cNvPr id="35" name="Shape 33"/>
          <p:cNvSpPr/>
          <p:nvPr/>
        </p:nvSpPr>
        <p:spPr>
          <a:xfrm>
            <a:off x="5760720" y="4846320"/>
            <a:ext cx="365760" cy="274320"/>
          </a:xfrm>
          <a:prstGeom prst="line">
            <a:avLst/>
          </a:prstGeom>
          <a:noFill/>
          <a:ln w="19050">
            <a:solidFill>
              <a:srgbClr val="AD82FB"/>
            </a:solidFill>
            <a:prstDash val="solid"/>
            <a:tailEnd type="triangle"/>
          </a:ln>
        </p:spPr>
      </p:sp>
      <p:sp>
        <p:nvSpPr>
          <p:cNvPr id="36" name="Shape 34"/>
          <p:cNvSpPr/>
          <p:nvPr/>
        </p:nvSpPr>
        <p:spPr>
          <a:xfrm flipV="1">
            <a:off x="5760720" y="5440680"/>
            <a:ext cx="365760" cy="228600"/>
          </a:xfrm>
          <a:prstGeom prst="line">
            <a:avLst/>
          </a:prstGeom>
          <a:noFill/>
          <a:ln w="19050">
            <a:solidFill>
              <a:srgbClr val="AD82FB"/>
            </a:solidFill>
            <a:prstDash val="solid"/>
            <a:tailEnd type="triangle"/>
          </a:ln>
        </p:spPr>
      </p:sp>
      <p:sp>
        <p:nvSpPr>
          <p:cNvPr id="37" name="Shape 35"/>
          <p:cNvSpPr/>
          <p:nvPr/>
        </p:nvSpPr>
        <p:spPr>
          <a:xfrm>
            <a:off x="7589520" y="5280660"/>
            <a:ext cx="365760" cy="0"/>
          </a:xfrm>
          <a:prstGeom prst="line">
            <a:avLst/>
          </a:prstGeom>
          <a:noFill/>
          <a:ln w="19050">
            <a:solidFill>
              <a:srgbClr val="AD82FB"/>
            </a:solidFill>
            <a:prstDash val="solid"/>
            <a:tailEnd type="triangle"/>
          </a:ln>
        </p:spPr>
      </p:sp>
      <p:sp>
        <p:nvSpPr>
          <p:cNvPr id="38" name="Shape 36"/>
          <p:cNvSpPr/>
          <p:nvPr/>
        </p:nvSpPr>
        <p:spPr>
          <a:xfrm>
            <a:off x="10058400" y="5280660"/>
            <a:ext cx="274320" cy="0"/>
          </a:xfrm>
          <a:prstGeom prst="line">
            <a:avLst/>
          </a:prstGeom>
          <a:noFill/>
          <a:ln w="19050">
            <a:solidFill>
              <a:srgbClr val="AD82FB"/>
            </a:solidFill>
            <a:prstDash val="solid"/>
            <a:tailEnd type="triangle"/>
          </a:ln>
        </p:spPr>
      </p:sp>
      <p:sp>
        <p:nvSpPr>
          <p:cNvPr id="39" name="Text 37"/>
          <p:cNvSpPr txBox="1"/>
          <p:nvPr/>
        </p:nvSpPr>
        <p:spPr>
          <a:xfrm>
            <a:off x="10332720" y="4892040"/>
            <a:ext cx="1188720" cy="457200"/>
          </a:xfrm>
          <a:prstGeom prst="rect">
            <a:avLst/>
          </a:prstGeom>
          <a:noFill/>
          <a:ln/>
        </p:spPr>
        <p:txBody>
          <a:bodyPr wrap="square" lIns="0" tIns="0" rIns="0" bIns="0" rtlCol="0" anchor="t"/>
          <a:lstStyle/>
          <a:p>
            <a:pPr algn="ctr" indent="0" marL="0">
              <a:buNone/>
            </a:pPr>
            <a:r>
              <a:rPr lang="en-US" sz="2600" b="1" dirty="0">
                <a:solidFill>
                  <a:srgbClr val="8644F9"/>
                </a:solidFill>
                <a:latin typeface="Arial" pitchFamily="34" charset="0"/>
                <a:ea typeface="Arial" pitchFamily="34" charset="-122"/>
                <a:cs typeface="Arial" pitchFamily="34" charset="-120"/>
              </a:rPr>
              <a:t>0.715</a:t>
            </a:r>
            <a:endParaRPr lang="en-US" sz="2600" dirty="0"/>
          </a:p>
        </p:txBody>
      </p:sp>
      <p:sp>
        <p:nvSpPr>
          <p:cNvPr id="40" name="Text 38"/>
          <p:cNvSpPr txBox="1"/>
          <p:nvPr/>
        </p:nvSpPr>
        <p:spPr>
          <a:xfrm>
            <a:off x="10332720" y="5367528"/>
            <a:ext cx="1188720" cy="274320"/>
          </a:xfrm>
          <a:prstGeom prst="rect">
            <a:avLst/>
          </a:prstGeom>
          <a:noFill/>
          <a:ln/>
        </p:spPr>
        <p:txBody>
          <a:bodyPr wrap="square" lIns="0" tIns="0" rIns="0" bIns="0" rtlCol="0" anchor="t"/>
          <a:lstStyle/>
          <a:p>
            <a:pPr algn="ctr" indent="0" marL="0">
              <a:buNone/>
            </a:pPr>
            <a:r>
              <a:rPr lang="en-US" sz="1000" dirty="0">
                <a:solidFill>
                  <a:srgbClr val="B9AECF"/>
                </a:solidFill>
                <a:latin typeface="Arial" pitchFamily="34" charset="0"/>
                <a:ea typeface="Arial" pitchFamily="34" charset="-122"/>
                <a:cs typeface="Arial" pitchFamily="34" charset="-120"/>
              </a:rPr>
              <a:t>macro F1 CV</a:t>
            </a:r>
            <a:endParaRPr lang="en-US" sz="10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4 · MODELADO</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TF-IDF fue difícil de superar: los embeddings congelados pierden y solo el fine-tuning lo supera</a:t>
            </a:r>
            <a:endParaRPr lang="en-US" sz="2500" dirty="0"/>
          </a:p>
        </p:txBody>
      </p:sp>
      <p:sp>
        <p:nvSpPr>
          <p:cNvPr id="5" name="Shape 3"/>
          <p:cNvSpPr/>
          <p:nvPr/>
        </p:nvSpPr>
        <p:spPr>
          <a:xfrm>
            <a:off x="548640" y="1828800"/>
            <a:ext cx="4846320" cy="1325880"/>
          </a:xfrm>
          <a:prstGeom prst="roundRect">
            <a:avLst>
              <a:gd name="adj" fmla="val 8276"/>
            </a:avLst>
          </a:prstGeom>
          <a:solidFill>
            <a:srgbClr val="21103D"/>
          </a:solidFill>
          <a:ln w="12700">
            <a:solidFill>
              <a:srgbClr val="21103D"/>
            </a:solidFill>
            <a:prstDash val="solid"/>
          </a:ln>
        </p:spPr>
      </p:sp>
      <p:sp>
        <p:nvSpPr>
          <p:cNvPr id="6" name="Text 4"/>
          <p:cNvSpPr txBox="1"/>
          <p:nvPr/>
        </p:nvSpPr>
        <p:spPr>
          <a:xfrm>
            <a:off x="777240" y="2011680"/>
            <a:ext cx="1463040" cy="548640"/>
          </a:xfrm>
          <a:prstGeom prst="rect">
            <a:avLst/>
          </a:prstGeom>
          <a:noFill/>
          <a:ln/>
        </p:spPr>
        <p:txBody>
          <a:bodyPr wrap="square" lIns="0" tIns="0" rIns="0" bIns="0" rtlCol="0" anchor="t"/>
          <a:lstStyle/>
          <a:p>
            <a:pPr indent="0" marL="0">
              <a:buNone/>
            </a:pPr>
            <a:r>
              <a:rPr lang="en-US" sz="3000" b="1" dirty="0">
                <a:solidFill>
                  <a:srgbClr val="8644F9"/>
                </a:solidFill>
                <a:latin typeface="Arial" pitchFamily="34" charset="0"/>
                <a:ea typeface="Arial" pitchFamily="34" charset="-122"/>
                <a:cs typeface="Arial" pitchFamily="34" charset="-120"/>
              </a:rPr>
              <a:t>0.671</a:t>
            </a:r>
            <a:endParaRPr lang="en-US" sz="3000" dirty="0"/>
          </a:p>
        </p:txBody>
      </p:sp>
      <p:sp>
        <p:nvSpPr>
          <p:cNvPr id="7" name="Text 5"/>
          <p:cNvSpPr txBox="1"/>
          <p:nvPr/>
        </p:nvSpPr>
        <p:spPr>
          <a:xfrm>
            <a:off x="2331720" y="2011680"/>
            <a:ext cx="2926080" cy="320040"/>
          </a:xfrm>
          <a:prstGeom prst="rect">
            <a:avLst/>
          </a:prstGeom>
          <a:noFill/>
          <a:ln/>
        </p:spPr>
        <p:txBody>
          <a:bodyPr wrap="square" lIns="0" tIns="0" rIns="0" bIns="0" rtlCol="0" anchor="t"/>
          <a:lstStyle/>
          <a:p>
            <a:pPr indent="0" marL="0">
              <a:buNone/>
            </a:pPr>
            <a:r>
              <a:rPr lang="en-US" sz="1400" b="1" dirty="0">
                <a:solidFill>
                  <a:srgbClr val="F2EEF8"/>
                </a:solidFill>
                <a:latin typeface="Arial" pitchFamily="34" charset="0"/>
                <a:ea typeface="Arial" pitchFamily="34" charset="-122"/>
                <a:cs typeface="Arial" pitchFamily="34" charset="-120"/>
              </a:rPr>
              <a:t>TF-IDF + regresión logística (B2)</a:t>
            </a:r>
            <a:endParaRPr lang="en-US" sz="1400" dirty="0"/>
          </a:p>
        </p:txBody>
      </p:sp>
      <p:sp>
        <p:nvSpPr>
          <p:cNvPr id="8" name="Text 6"/>
          <p:cNvSpPr txBox="1"/>
          <p:nvPr/>
        </p:nvSpPr>
        <p:spPr>
          <a:xfrm>
            <a:off x="2331720" y="2359152"/>
            <a:ext cx="2926080" cy="7315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Respuestas cortas que deciden palabras como nómina, renta o mercancía</a:t>
            </a:r>
            <a:endParaRPr lang="en-US" sz="1200" dirty="0"/>
          </a:p>
        </p:txBody>
      </p:sp>
      <p:sp>
        <p:nvSpPr>
          <p:cNvPr id="9" name="Shape 7"/>
          <p:cNvSpPr/>
          <p:nvPr/>
        </p:nvSpPr>
        <p:spPr>
          <a:xfrm>
            <a:off x="548640" y="3291840"/>
            <a:ext cx="4846320" cy="1325880"/>
          </a:xfrm>
          <a:prstGeom prst="roundRect">
            <a:avLst>
              <a:gd name="adj" fmla="val 8276"/>
            </a:avLst>
          </a:prstGeom>
          <a:solidFill>
            <a:srgbClr val="21103D"/>
          </a:solidFill>
          <a:ln w="12700">
            <a:solidFill>
              <a:srgbClr val="21103D"/>
            </a:solidFill>
            <a:prstDash val="solid"/>
          </a:ln>
        </p:spPr>
      </p:sp>
      <p:sp>
        <p:nvSpPr>
          <p:cNvPr id="10" name="Text 8"/>
          <p:cNvSpPr txBox="1"/>
          <p:nvPr/>
        </p:nvSpPr>
        <p:spPr>
          <a:xfrm>
            <a:off x="777240" y="3474720"/>
            <a:ext cx="1463040" cy="548640"/>
          </a:xfrm>
          <a:prstGeom prst="rect">
            <a:avLst/>
          </a:prstGeom>
          <a:noFill/>
          <a:ln/>
        </p:spPr>
        <p:txBody>
          <a:bodyPr wrap="square" lIns="0" tIns="0" rIns="0" bIns="0" rtlCol="0" anchor="t"/>
          <a:lstStyle/>
          <a:p>
            <a:pPr indent="0" marL="0">
              <a:buNone/>
            </a:pPr>
            <a:r>
              <a:rPr lang="en-US" sz="3000" b="1" dirty="0">
                <a:solidFill>
                  <a:srgbClr val="8A8499"/>
                </a:solidFill>
                <a:latin typeface="Arial" pitchFamily="34" charset="0"/>
                <a:ea typeface="Arial" pitchFamily="34" charset="-122"/>
                <a:cs typeface="Arial" pitchFamily="34" charset="-120"/>
              </a:rPr>
              <a:t>0.601</a:t>
            </a:r>
            <a:endParaRPr lang="en-US" sz="3000" dirty="0"/>
          </a:p>
        </p:txBody>
      </p:sp>
      <p:sp>
        <p:nvSpPr>
          <p:cNvPr id="11" name="Text 9"/>
          <p:cNvSpPr txBox="1"/>
          <p:nvPr/>
        </p:nvSpPr>
        <p:spPr>
          <a:xfrm>
            <a:off x="2331720" y="3474720"/>
            <a:ext cx="2926080" cy="320040"/>
          </a:xfrm>
          <a:prstGeom prst="rect">
            <a:avLst/>
          </a:prstGeom>
          <a:noFill/>
          <a:ln/>
        </p:spPr>
        <p:txBody>
          <a:bodyPr wrap="square" lIns="0" tIns="0" rIns="0" bIns="0" rtlCol="0" anchor="t"/>
          <a:lstStyle/>
          <a:p>
            <a:pPr indent="0" marL="0">
              <a:buNone/>
            </a:pPr>
            <a:r>
              <a:rPr lang="en-US" sz="1400" b="1" dirty="0">
                <a:solidFill>
                  <a:srgbClr val="F2EEF8"/>
                </a:solidFill>
                <a:latin typeface="Arial" pitchFamily="34" charset="0"/>
                <a:ea typeface="Arial" pitchFamily="34" charset="-122"/>
                <a:cs typeface="Arial" pitchFamily="34" charset="-120"/>
              </a:rPr>
              <a:t>e5 congelado + LR</a:t>
            </a:r>
            <a:endParaRPr lang="en-US" sz="1400" dirty="0"/>
          </a:p>
        </p:txBody>
      </p:sp>
      <p:sp>
        <p:nvSpPr>
          <p:cNvPr id="12" name="Text 10"/>
          <p:cNvSpPr txBox="1"/>
          <p:nvPr/>
        </p:nvSpPr>
        <p:spPr>
          <a:xfrm>
            <a:off x="2331720" y="3822192"/>
            <a:ext cx="2926080" cy="7315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Los embeddings generales difuminan justo esas palabras clave</a:t>
            </a:r>
            <a:endParaRPr lang="en-US" sz="1200" dirty="0"/>
          </a:p>
        </p:txBody>
      </p:sp>
      <p:sp>
        <p:nvSpPr>
          <p:cNvPr id="13" name="Shape 11"/>
          <p:cNvSpPr/>
          <p:nvPr/>
        </p:nvSpPr>
        <p:spPr>
          <a:xfrm>
            <a:off x="548640" y="4754880"/>
            <a:ext cx="4846320" cy="1325880"/>
          </a:xfrm>
          <a:prstGeom prst="roundRect">
            <a:avLst>
              <a:gd name="adj" fmla="val 8276"/>
            </a:avLst>
          </a:prstGeom>
          <a:solidFill>
            <a:srgbClr val="21103D"/>
          </a:solidFill>
          <a:ln w="12700">
            <a:solidFill>
              <a:srgbClr val="21103D"/>
            </a:solidFill>
            <a:prstDash val="solid"/>
          </a:ln>
        </p:spPr>
      </p:sp>
      <p:sp>
        <p:nvSpPr>
          <p:cNvPr id="14" name="Text 12"/>
          <p:cNvSpPr txBox="1"/>
          <p:nvPr/>
        </p:nvSpPr>
        <p:spPr>
          <a:xfrm>
            <a:off x="777240" y="4937760"/>
            <a:ext cx="1463040" cy="548640"/>
          </a:xfrm>
          <a:prstGeom prst="rect">
            <a:avLst/>
          </a:prstGeom>
          <a:noFill/>
          <a:ln/>
        </p:spPr>
        <p:txBody>
          <a:bodyPr wrap="square" lIns="0" tIns="0" rIns="0" bIns="0" rtlCol="0" anchor="t"/>
          <a:lstStyle/>
          <a:p>
            <a:pPr indent="0" marL="0">
              <a:buNone/>
            </a:pPr>
            <a:r>
              <a:rPr lang="en-US" sz="3000" b="1" dirty="0">
                <a:solidFill>
                  <a:srgbClr val="8644F9"/>
                </a:solidFill>
                <a:latin typeface="Arial" pitchFamily="34" charset="0"/>
                <a:ea typeface="Arial" pitchFamily="34" charset="-122"/>
                <a:cs typeface="Arial" pitchFamily="34" charset="-120"/>
              </a:rPr>
              <a:t>0.715</a:t>
            </a:r>
            <a:endParaRPr lang="en-US" sz="3000" dirty="0"/>
          </a:p>
        </p:txBody>
      </p:sp>
      <p:sp>
        <p:nvSpPr>
          <p:cNvPr id="15" name="Text 13"/>
          <p:cNvSpPr txBox="1"/>
          <p:nvPr/>
        </p:nvSpPr>
        <p:spPr>
          <a:xfrm>
            <a:off x="2331720" y="4937760"/>
            <a:ext cx="2926080" cy="320040"/>
          </a:xfrm>
          <a:prstGeom prst="rect">
            <a:avLst/>
          </a:prstGeom>
          <a:noFill/>
          <a:ln/>
        </p:spPr>
        <p:txBody>
          <a:bodyPr wrap="square" lIns="0" tIns="0" rIns="0" bIns="0" rtlCol="0" anchor="t"/>
          <a:lstStyle/>
          <a:p>
            <a:pPr indent="0" marL="0">
              <a:buNone/>
            </a:pPr>
            <a:r>
              <a:rPr lang="en-US" sz="1400" b="1" dirty="0">
                <a:solidFill>
                  <a:srgbClr val="F2EEF8"/>
                </a:solidFill>
                <a:latin typeface="Arial" pitchFamily="34" charset="0"/>
                <a:ea typeface="Arial" pitchFamily="34" charset="-122"/>
                <a:cs typeface="Arial" pitchFamily="34" charset="-120"/>
              </a:rPr>
              <a:t>Mezcla E9b</a:t>
            </a:r>
            <a:endParaRPr lang="en-US" sz="1400" dirty="0"/>
          </a:p>
        </p:txBody>
      </p:sp>
      <p:sp>
        <p:nvSpPr>
          <p:cNvPr id="16" name="Text 14"/>
          <p:cNvSpPr txBox="1"/>
          <p:nvPr/>
        </p:nvSpPr>
        <p:spPr>
          <a:xfrm>
            <a:off x="2331720" y="5285232"/>
            <a:ext cx="2926080" cy="73152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El e5 acierta en 1,000 filas donde B2 falla; B2 en 695 donde falla el e5</a:t>
            </a:r>
            <a:endParaRPr lang="en-US" sz="1200" dirty="0"/>
          </a:p>
        </p:txBody>
      </p:sp>
      <p:pic>
        <p:nvPicPr>
          <p:cNvPr id="17" name="Image 0" descr="/mnt/user-data/uploads/konfio/reports/figures/deck_konfio/ablacion_cv.png">    </p:cNvPr>
          <p:cNvPicPr>
            <a:picLocks noChangeAspect="1"/>
          </p:cNvPicPr>
          <p:nvPr/>
        </p:nvPicPr>
        <p:blipFill>
          <a:blip r:embed="rId1"/>
          <a:stretch>
            <a:fillRect/>
          </a:stretch>
        </p:blipFill>
        <p:spPr>
          <a:xfrm>
            <a:off x="5806440" y="1783080"/>
            <a:ext cx="5618074" cy="4389120"/>
          </a:xfrm>
          <a:prstGeom prst="rect">
            <a:avLst/>
          </a:prstGeom>
        </p:spPr>
      </p:pic>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5 · EVALUACIÓN</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Evalué con macro F1 e intervalos de confianza: en test, E9b supera a B2 y a la Hamming loss de Konfío</a:t>
            </a:r>
            <a:endParaRPr lang="en-US" sz="25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4343400" cy="914400"/>
        </p:xfrm>
        <a:graphic>
          <a:graphicData uri="http://schemas.openxmlformats.org/drawingml/2006/table">
            <a:tbl>
              <a:tblPr/>
              <a:tblGrid>
                <a:gridCol w="1600200"/>
                <a:gridCol w="2743200"/>
              </a:tblGrid>
              <a:tr h="713232">
                <a:tc>
                  <a:txBody>
                    <a:bodyPr/>
                    <a:lstStyle/>
                    <a:p>
                      <a:pPr indent="0" marL="0">
                        <a:buNone/>
                      </a:pPr>
                      <a:r>
                        <a:rPr lang="en-US" sz="1200" b="1" dirty="0">
                          <a:solidFill>
                            <a:srgbClr val="F2EEF8"/>
                          </a:solidFill>
                          <a:latin typeface="Arial" pitchFamily="34" charset="0"/>
                          <a:ea typeface="Arial" pitchFamily="34" charset="-122"/>
                          <a:cs typeface="Arial" pitchFamily="34" charset="-120"/>
                        </a:rPr>
                        <a:t>Métrica</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200" b="1" dirty="0">
                          <a:solidFill>
                            <a:srgbClr val="F2EEF8"/>
                          </a:solidFill>
                          <a:latin typeface="Arial" pitchFamily="34" charset="0"/>
                          <a:ea typeface="Arial" pitchFamily="34" charset="-122"/>
                          <a:cs typeface="Arial" pitchFamily="34" charset="-120"/>
                        </a:rPr>
                        <a:t>Por qué la uso</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5B2DB8"/>
                    </a:solidFill>
                  </a:tcPr>
                </a:tc>
              </a:tr>
              <a:tr h="713232">
                <a:tc>
                  <a:txBody>
                    <a:bodyPr/>
                    <a:lstStyle/>
                    <a:p>
                      <a:pPr indent="0" marL="0">
                        <a:buNone/>
                      </a:pPr>
                      <a:r>
                        <a:rPr lang="en-US" sz="1200" dirty="0">
                          <a:solidFill>
                            <a:srgbClr val="F2EEF8"/>
                          </a:solidFill>
                          <a:latin typeface="Arial" pitchFamily="34" charset="0"/>
                          <a:ea typeface="Arial" pitchFamily="34" charset="-122"/>
                          <a:cs typeface="Arial" pitchFamily="34" charset="-120"/>
                        </a:rPr>
                        <a:t>Macro F1 (principal)</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Cada etiqueta pesa igual: temp y sueldo cuentan tanto como inv</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713232">
                <a:tc>
                  <a:txBody>
                    <a:bodyPr/>
                    <a:lstStyle/>
                    <a:p>
                      <a:pPr indent="0" marL="0">
                        <a:buNone/>
                      </a:pPr>
                      <a:r>
                        <a:rPr lang="en-US" sz="1200" dirty="0">
                          <a:solidFill>
                            <a:srgbClr val="F2EEF8"/>
                          </a:solidFill>
                          <a:latin typeface="Arial" pitchFamily="34" charset="0"/>
                          <a:ea typeface="Arial" pitchFamily="34" charset="-122"/>
                          <a:cs typeface="Arial" pitchFamily="34" charset="-120"/>
                        </a:rPr>
                        <a:t>Hamming loss</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Solo para comparar con Konfío: no predecir nada ya da 0.114</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713232">
                <a:tc>
                  <a:txBody>
                    <a:bodyPr/>
                    <a:lstStyle/>
                    <a:p>
                      <a:pPr indent="0" marL="0">
                        <a:buNone/>
                      </a:pPr>
                      <a:r>
                        <a:rPr lang="en-US" sz="1200" dirty="0">
                          <a:solidFill>
                            <a:srgbClr val="F2EEF8"/>
                          </a:solidFill>
                          <a:latin typeface="Arial" pitchFamily="34" charset="0"/>
                          <a:ea typeface="Arial" pitchFamily="34" charset="-122"/>
                          <a:cs typeface="Arial" pitchFamily="34" charset="-120"/>
                        </a:rPr>
                        <a:t>PR-AUC y samples F1</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Calidad del ranking por etiqueta y acierto por solicitud</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r h="713232">
                <a:tc>
                  <a:txBody>
                    <a:bodyPr/>
                    <a:lstStyle/>
                    <a:p>
                      <a:pPr indent="0" marL="0">
                        <a:buNone/>
                      </a:pPr>
                      <a:r>
                        <a:rPr lang="en-US" sz="1200" dirty="0">
                          <a:solidFill>
                            <a:srgbClr val="F2EEF8"/>
                          </a:solidFill>
                          <a:latin typeface="Arial" pitchFamily="34" charset="0"/>
                          <a:ea typeface="Arial" pitchFamily="34" charset="-122"/>
                          <a:cs typeface="Arial" pitchFamily="34" charset="-120"/>
                        </a:rPr>
                        <a:t>IC 95% por bootstrap de grupos</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200" dirty="0">
                          <a:solidFill>
                            <a:srgbClr val="F2EEF8"/>
                          </a:solidFill>
                          <a:latin typeface="Arial" pitchFamily="34" charset="0"/>
                          <a:ea typeface="Arial" pitchFamily="34" charset="-122"/>
                          <a:cs typeface="Arial" pitchFamily="34" charset="-120"/>
                        </a:rPr>
                        <a:t>Toda diferencia con intervalo; el test se usó una sola vez</a:t>
                      </a:r>
                      <a:endParaRPr lang="en-US" sz="1200" dirty="0">
                        <a:latin typeface="Arial" charset="0"/>
                        <a:ea typeface="Arial" charset="0"/>
                        <a:cs typeface="Arial" charset="0"/>
                      </a:endParaRPr>
                    </a:p>
                  </a:txBody>
                  <a:tcPr marL="91440" marR="91440" marT="0" marB="0" anchor="ctr">
                    <a:lnL w="9525" cap="flat" cmpd="sng" algn="ctr">
                      <a:solidFill>
                        <a:srgbClr val="3A2566"/>
                      </a:solidFill>
                      <a:prstDash val="solid"/>
                      <a:round/>
                      <a:headEnd type="none" w="med" len="med"/>
                      <a:tailEnd type="none" w="med" len="med"/>
                    </a:lnL>
                    <a:lnR w="9525" cap="flat" cmpd="sng" algn="ctr">
                      <a:solidFill>
                        <a:srgbClr val="3A2566"/>
                      </a:solidFill>
                      <a:prstDash val="solid"/>
                      <a:round/>
                      <a:headEnd type="none" w="med" len="med"/>
                      <a:tailEnd type="none" w="med" len="med"/>
                    </a:lnR>
                    <a:lnT w="9525" cap="flat" cmpd="sng" algn="ctr">
                      <a:solidFill>
                        <a:srgbClr val="3A2566"/>
                      </a:solidFill>
                      <a:prstDash val="solid"/>
                      <a:round/>
                      <a:headEnd type="none" w="med" len="med"/>
                      <a:tailEnd type="none" w="med" len="med"/>
                    </a:lnT>
                    <a:lnB w="9525" cap="flat" cmpd="sng" algn="ctr">
                      <a:solidFill>
                        <a:srgbClr val="3A2566"/>
                      </a:solidFill>
                      <a:prstDash val="solid"/>
                      <a:round/>
                      <a:headEnd type="none" w="med" len="med"/>
                      <a:tailEnd type="none" w="med" len="med"/>
                    </a:lnB>
                    <a:solidFill>
                      <a:srgbClr val="21103D"/>
                    </a:solidFill>
                  </a:tcPr>
                </a:tc>
              </a:tr>
            </a:tbl>
          </a:graphicData>
        </a:graphic>
      </p:graphicFrame>
      <p:pic>
        <p:nvPicPr>
          <p:cNvPr id="6" name="Image 0" descr="/mnt/user-data/uploads/konfio/reports/figures/deck_konfio/test_f1.png">    </p:cNvPr>
          <p:cNvPicPr>
            <a:picLocks noChangeAspect="1"/>
          </p:cNvPicPr>
          <p:nvPr/>
        </p:nvPicPr>
        <p:blipFill>
          <a:blip r:embed="rId1"/>
          <a:stretch>
            <a:fillRect/>
          </a:stretch>
        </p:blipFill>
        <p:spPr>
          <a:xfrm>
            <a:off x="5166360" y="1783080"/>
            <a:ext cx="3160166" cy="2468880"/>
          </a:xfrm>
          <a:prstGeom prst="rect">
            <a:avLst/>
          </a:prstGeom>
        </p:spPr>
      </p:pic>
      <p:pic>
        <p:nvPicPr>
          <p:cNvPr id="7" name="Image 1" descr="/mnt/user-data/uploads/konfio/reports/figures/deck_konfio/test_hamming.png">    </p:cNvPr>
          <p:cNvPicPr>
            <a:picLocks noChangeAspect="1"/>
          </p:cNvPicPr>
          <p:nvPr/>
        </p:nvPicPr>
        <p:blipFill>
          <a:blip r:embed="rId2"/>
          <a:stretch>
            <a:fillRect/>
          </a:stretch>
        </p:blipFill>
        <p:spPr>
          <a:xfrm>
            <a:off x="8458200" y="1783080"/>
            <a:ext cx="3160166" cy="2468880"/>
          </a:xfrm>
          <a:prstGeom prst="rect">
            <a:avLst/>
          </a:prstGeom>
        </p:spPr>
      </p:pic>
      <p:sp>
        <p:nvSpPr>
          <p:cNvPr id="8" name="Shape 3"/>
          <p:cNvSpPr/>
          <p:nvPr/>
        </p:nvSpPr>
        <p:spPr>
          <a:xfrm>
            <a:off x="5166360" y="4572000"/>
            <a:ext cx="6446520" cy="1280160"/>
          </a:xfrm>
          <a:prstGeom prst="roundRect">
            <a:avLst>
              <a:gd name="adj" fmla="val 8571"/>
            </a:avLst>
          </a:prstGeom>
          <a:solidFill>
            <a:srgbClr val="21103D"/>
          </a:solidFill>
          <a:ln w="12700">
            <a:solidFill>
              <a:srgbClr val="21103D"/>
            </a:solidFill>
            <a:prstDash val="solid"/>
          </a:ln>
        </p:spPr>
      </p:sp>
      <p:sp>
        <p:nvSpPr>
          <p:cNvPr id="9" name="Text 4"/>
          <p:cNvSpPr txBox="1"/>
          <p:nvPr/>
        </p:nvSpPr>
        <p:spPr>
          <a:xfrm>
            <a:off x="5394960" y="4727448"/>
            <a:ext cx="6035040" cy="1051560"/>
          </a:xfrm>
          <a:prstGeom prst="rect">
            <a:avLst/>
          </a:prstGeom>
          <a:noFill/>
          <a:ln/>
        </p:spPr>
        <p:txBody>
          <a:bodyPr wrap="square" lIns="0" tIns="0" rIns="0" bIns="0" rtlCol="0" anchor="t"/>
          <a:lstStyle/>
          <a:p>
            <a:pPr indent="0" marL="0">
              <a:buNone/>
            </a:pPr>
            <a:r>
              <a:rPr lang="en-US" sz="1400" b="1" dirty="0">
                <a:solidFill>
                  <a:srgbClr val="F2EEF8"/>
                </a:solidFill>
                <a:latin typeface="Arial" pitchFamily="34" charset="0"/>
                <a:ea typeface="Arial" pitchFamily="34" charset="-122"/>
                <a:cs typeface="Arial" pitchFamily="34" charset="-120"/>
              </a:rPr>
              <a:t>E9b menos B2, mismo test: </a:t>
            </a:r>
            <a:pPr indent="0" marL="0">
              <a:buNone/>
            </a:pPr>
            <a:r>
              <a:rPr lang="en-US" sz="1400" b="1" dirty="0">
                <a:solidFill>
                  <a:srgbClr val="AD82FB"/>
                </a:solidFill>
                <a:latin typeface="Arial" pitchFamily="34" charset="0"/>
                <a:ea typeface="Arial" pitchFamily="34" charset="-122"/>
                <a:cs typeface="Arial" pitchFamily="34" charset="-120"/>
              </a:rPr>
              <a:t>+0.043 de macro F1 [+0.020, +0.065]</a:t>
            </a:r>
            <a:endParaRPr lang="en-US" sz="1400" dirty="0"/>
          </a:p>
          <a:p>
            <a:pPr indent="0" marL="0">
              <a:buNone/>
            </a:pPr>
            <a:r>
              <a:rPr lang="en-US" sz="1200" dirty="0">
                <a:solidFill>
                  <a:srgbClr val="B9AECF"/>
                </a:solidFill>
                <a:latin typeface="Arial" pitchFamily="34" charset="0"/>
                <a:ea typeface="Arial" pitchFamily="34" charset="-122"/>
                <a:cs typeface="Arial" pitchFamily="34" charset="-120"/>
              </a:rPr>
              <a:t>Su "precisión promedio de 67%" es ambigua: la PR-AUC media (0.78) y la precisión micro (0.75) la superan; la macro (0.69) no es concluyente</a:t>
            </a:r>
            <a:endParaRPr lang="en-US" sz="14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5 · EVALUACIÓN</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temp sigue siendo la más débil, y la mayor parte del error restante viene de las etiquetas, no del modelo</a:t>
            </a:r>
            <a:endParaRPr lang="en-US" sz="2500" dirty="0"/>
          </a:p>
        </p:txBody>
      </p:sp>
      <p:sp>
        <p:nvSpPr>
          <p:cNvPr id="5" name="Text 3"/>
          <p:cNvSpPr txBox="1"/>
          <p:nvPr/>
        </p:nvSpPr>
        <p:spPr>
          <a:xfrm>
            <a:off x="548640" y="1783080"/>
            <a:ext cx="5303520" cy="548640"/>
          </a:xfrm>
          <a:prstGeom prst="rect">
            <a:avLst/>
          </a:prstGeom>
          <a:noFill/>
          <a:ln/>
        </p:spPr>
        <p:txBody>
          <a:bodyPr wrap="square" lIns="0" tIns="0" rIns="0" bIns="0" rtlCol="0" anchor="t"/>
          <a:lstStyle/>
          <a:p>
            <a:pPr indent="0" marL="0">
              <a:buNone/>
            </a:pPr>
            <a:r>
              <a:rPr lang="en-US" sz="1300" b="1" dirty="0">
                <a:solidFill>
                  <a:srgbClr val="AD82FB"/>
                </a:solidFill>
                <a:latin typeface="Arial" pitchFamily="34" charset="0"/>
                <a:ea typeface="Arial" pitchFamily="34" charset="-122"/>
                <a:cs typeface="Arial" pitchFamily="34" charset="-120"/>
              </a:rPr>
              <a:t>Mejoro en las 10 etiquetas; temp sube de 0.34 a 0.40 pero mezcla temporada y ciclo de cobro</a:t>
            </a:r>
            <a:endParaRPr lang="en-US" sz="1300" dirty="0"/>
          </a:p>
        </p:txBody>
      </p:sp>
      <p:sp>
        <p:nvSpPr>
          <p:cNvPr id="6" name="Text 4"/>
          <p:cNvSpPr txBox="1"/>
          <p:nvPr/>
        </p:nvSpPr>
        <p:spPr>
          <a:xfrm>
            <a:off x="6263640" y="1783080"/>
            <a:ext cx="5349240" cy="548640"/>
          </a:xfrm>
          <a:prstGeom prst="rect">
            <a:avLst/>
          </a:prstGeom>
          <a:noFill/>
          <a:ln/>
        </p:spPr>
        <p:txBody>
          <a:bodyPr wrap="square" lIns="0" tIns="0" rIns="0" bIns="0" rtlCol="0" anchor="t"/>
          <a:lstStyle/>
          <a:p>
            <a:pPr indent="0" marL="0">
              <a:buNone/>
            </a:pPr>
            <a:r>
              <a:rPr lang="en-US" sz="1300" b="1" dirty="0">
                <a:solidFill>
                  <a:srgbClr val="AD82FB"/>
                </a:solidFill>
                <a:latin typeface="Arial" pitchFamily="34" charset="0"/>
                <a:ea typeface="Arial" pitchFamily="34" charset="-122"/>
                <a:cs typeface="Arial" pitchFamily="34" charset="-120"/>
              </a:rPr>
              <a:t>Revisé 50 errores a mano: solo 12% es del modelo; 58% es convención de etiquetado</a:t>
            </a:r>
            <a:endParaRPr lang="en-US" sz="1300" dirty="0"/>
          </a:p>
        </p:txBody>
      </p:sp>
      <p:pic>
        <p:nvPicPr>
          <p:cNvPr id="7" name="Image 0" descr="/mnt/user-data/uploads/konfio/reports/figures/deck_konfio/test_f1_por_etiqueta.png">    </p:cNvPr>
          <p:cNvPicPr>
            <a:picLocks noChangeAspect="1"/>
          </p:cNvPicPr>
          <p:nvPr/>
        </p:nvPicPr>
        <p:blipFill>
          <a:blip r:embed="rId1"/>
          <a:stretch>
            <a:fillRect/>
          </a:stretch>
        </p:blipFill>
        <p:spPr>
          <a:xfrm>
            <a:off x="548640" y="2377440"/>
            <a:ext cx="4857293" cy="3794760"/>
          </a:xfrm>
          <a:prstGeom prst="rect">
            <a:avLst/>
          </a:prstGeom>
        </p:spPr>
      </p:pic>
      <p:pic>
        <p:nvPicPr>
          <p:cNvPr id="8" name="Image 1" descr="/mnt/user-data/uploads/konfio/reports/figures/deck_konfio/auditoria_manual.png">    </p:cNvPr>
          <p:cNvPicPr>
            <a:picLocks noChangeAspect="1"/>
          </p:cNvPicPr>
          <p:nvPr/>
        </p:nvPicPr>
        <p:blipFill>
          <a:blip r:embed="rId2"/>
          <a:stretch>
            <a:fillRect/>
          </a:stretch>
        </p:blipFill>
        <p:spPr>
          <a:xfrm>
            <a:off x="6263640" y="2377440"/>
            <a:ext cx="4857293" cy="3794760"/>
          </a:xfrm>
          <a:prstGeom prst="rect">
            <a:avLst/>
          </a:prstGeom>
        </p:spPr>
      </p:pic>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FASE 6 · DESPLIEGUE</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Lo desplegaría como API: responde en 32 ms en CPU y manda a revisión humana los casos de riesgo</a:t>
            </a:r>
            <a:endParaRPr lang="en-US" sz="2500" dirty="0"/>
          </a:p>
        </p:txBody>
      </p:sp>
      <p:sp>
        <p:nvSpPr>
          <p:cNvPr id="5" name="Shape 3"/>
          <p:cNvSpPr/>
          <p:nvPr/>
        </p:nvSpPr>
        <p:spPr>
          <a:xfrm>
            <a:off x="548640" y="1828800"/>
            <a:ext cx="2011680" cy="1051560"/>
          </a:xfrm>
          <a:prstGeom prst="roundRect">
            <a:avLst>
              <a:gd name="adj" fmla="val 10435"/>
            </a:avLst>
          </a:prstGeom>
          <a:solidFill>
            <a:srgbClr val="21103D"/>
          </a:solidFill>
          <a:ln w="12700">
            <a:solidFill>
              <a:srgbClr val="21103D"/>
            </a:solidFill>
            <a:prstDash val="solid"/>
          </a:ln>
        </p:spPr>
      </p:sp>
      <p:sp>
        <p:nvSpPr>
          <p:cNvPr id="6" name="Text 4"/>
          <p:cNvSpPr txBox="1"/>
          <p:nvPr/>
        </p:nvSpPr>
        <p:spPr>
          <a:xfrm>
            <a:off x="731520" y="1920240"/>
            <a:ext cx="1737360" cy="502920"/>
          </a:xfrm>
          <a:prstGeom prst="rect">
            <a:avLst/>
          </a:prstGeom>
          <a:noFill/>
          <a:ln/>
        </p:spPr>
        <p:txBody>
          <a:bodyPr wrap="square" lIns="0" tIns="0" rIns="0" bIns="0" rtlCol="0" anchor="t"/>
          <a:lstStyle/>
          <a:p>
            <a:pPr indent="0" marL="0">
              <a:buNone/>
            </a:pPr>
            <a:r>
              <a:rPr lang="en-US" sz="2400" b="1" dirty="0">
                <a:solidFill>
                  <a:srgbClr val="8644F9"/>
                </a:solidFill>
                <a:latin typeface="Arial" pitchFamily="34" charset="0"/>
                <a:ea typeface="Arial" pitchFamily="34" charset="-122"/>
                <a:cs typeface="Arial" pitchFamily="34" charset="-120"/>
              </a:rPr>
              <a:t>31.7 ms</a:t>
            </a:r>
            <a:endParaRPr lang="en-US" sz="2400" dirty="0"/>
          </a:p>
        </p:txBody>
      </p:sp>
      <p:sp>
        <p:nvSpPr>
          <p:cNvPr id="7" name="Text 5"/>
          <p:cNvSpPr txBox="1"/>
          <p:nvPr/>
        </p:nvSpPr>
        <p:spPr>
          <a:xfrm>
            <a:off x="731520" y="2450592"/>
            <a:ext cx="1737360" cy="32004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p50 en CPU</a:t>
            </a:r>
            <a:endParaRPr lang="en-US" sz="1200" dirty="0"/>
          </a:p>
        </p:txBody>
      </p:sp>
      <p:sp>
        <p:nvSpPr>
          <p:cNvPr id="8" name="Shape 6"/>
          <p:cNvSpPr/>
          <p:nvPr/>
        </p:nvSpPr>
        <p:spPr>
          <a:xfrm>
            <a:off x="2697480" y="1828800"/>
            <a:ext cx="2011680" cy="1051560"/>
          </a:xfrm>
          <a:prstGeom prst="roundRect">
            <a:avLst>
              <a:gd name="adj" fmla="val 10435"/>
            </a:avLst>
          </a:prstGeom>
          <a:solidFill>
            <a:srgbClr val="21103D"/>
          </a:solidFill>
          <a:ln w="12700">
            <a:solidFill>
              <a:srgbClr val="21103D"/>
            </a:solidFill>
            <a:prstDash val="solid"/>
          </a:ln>
        </p:spPr>
      </p:sp>
      <p:sp>
        <p:nvSpPr>
          <p:cNvPr id="9" name="Text 7"/>
          <p:cNvSpPr txBox="1"/>
          <p:nvPr/>
        </p:nvSpPr>
        <p:spPr>
          <a:xfrm>
            <a:off x="2880360" y="1920240"/>
            <a:ext cx="1737360" cy="502920"/>
          </a:xfrm>
          <a:prstGeom prst="rect">
            <a:avLst/>
          </a:prstGeom>
          <a:noFill/>
          <a:ln/>
        </p:spPr>
        <p:txBody>
          <a:bodyPr wrap="square" lIns="0" tIns="0" rIns="0" bIns="0" rtlCol="0" anchor="t"/>
          <a:lstStyle/>
          <a:p>
            <a:pPr indent="0" marL="0">
              <a:buNone/>
            </a:pPr>
            <a:r>
              <a:rPr lang="en-US" sz="2400" b="1" dirty="0">
                <a:solidFill>
                  <a:srgbClr val="8644F9"/>
                </a:solidFill>
                <a:latin typeface="Arial" pitchFamily="34" charset="0"/>
                <a:ea typeface="Arial" pitchFamily="34" charset="-122"/>
                <a:cs typeface="Arial" pitchFamily="34" charset="-120"/>
              </a:rPr>
              <a:t>47.6 ms</a:t>
            </a:r>
            <a:endParaRPr lang="en-US" sz="2400" dirty="0"/>
          </a:p>
        </p:txBody>
      </p:sp>
      <p:sp>
        <p:nvSpPr>
          <p:cNvPr id="10" name="Text 8"/>
          <p:cNvSpPr txBox="1"/>
          <p:nvPr/>
        </p:nvSpPr>
        <p:spPr>
          <a:xfrm>
            <a:off x="2880360" y="2450592"/>
            <a:ext cx="1737360" cy="32004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p95 en CPU</a:t>
            </a:r>
            <a:endParaRPr lang="en-US" sz="1200" dirty="0"/>
          </a:p>
        </p:txBody>
      </p:sp>
      <p:sp>
        <p:nvSpPr>
          <p:cNvPr id="11" name="Shape 9"/>
          <p:cNvSpPr/>
          <p:nvPr/>
        </p:nvSpPr>
        <p:spPr>
          <a:xfrm>
            <a:off x="4846320" y="1828800"/>
            <a:ext cx="2011680" cy="1051560"/>
          </a:xfrm>
          <a:prstGeom prst="roundRect">
            <a:avLst>
              <a:gd name="adj" fmla="val 10435"/>
            </a:avLst>
          </a:prstGeom>
          <a:solidFill>
            <a:srgbClr val="21103D"/>
          </a:solidFill>
          <a:ln w="12700">
            <a:solidFill>
              <a:srgbClr val="21103D"/>
            </a:solidFill>
            <a:prstDash val="solid"/>
          </a:ln>
        </p:spPr>
      </p:sp>
      <p:sp>
        <p:nvSpPr>
          <p:cNvPr id="12" name="Text 10"/>
          <p:cNvSpPr txBox="1"/>
          <p:nvPr/>
        </p:nvSpPr>
        <p:spPr>
          <a:xfrm>
            <a:off x="5029200" y="1920240"/>
            <a:ext cx="1737360" cy="502920"/>
          </a:xfrm>
          <a:prstGeom prst="rect">
            <a:avLst/>
          </a:prstGeom>
          <a:noFill/>
          <a:ln/>
        </p:spPr>
        <p:txBody>
          <a:bodyPr wrap="square" lIns="0" tIns="0" rIns="0" bIns="0" rtlCol="0" anchor="t"/>
          <a:lstStyle/>
          <a:p>
            <a:pPr indent="0" marL="0">
              <a:buNone/>
            </a:pPr>
            <a:r>
              <a:rPr lang="en-US" sz="2400" b="1" dirty="0">
                <a:solidFill>
                  <a:srgbClr val="AD82FB"/>
                </a:solidFill>
                <a:latin typeface="Arial" pitchFamily="34" charset="0"/>
                <a:ea typeface="Arial" pitchFamily="34" charset="-122"/>
                <a:cs typeface="Arial" pitchFamily="34" charset="-120"/>
              </a:rPr>
              <a:t>5.3 ms</a:t>
            </a:r>
            <a:endParaRPr lang="en-US" sz="2400" dirty="0"/>
          </a:p>
        </p:txBody>
      </p:sp>
      <p:sp>
        <p:nvSpPr>
          <p:cNvPr id="13" name="Text 11"/>
          <p:cNvSpPr txBox="1"/>
          <p:nvPr/>
        </p:nvSpPr>
        <p:spPr>
          <a:xfrm>
            <a:off x="5029200" y="2450592"/>
            <a:ext cx="1737360" cy="320040"/>
          </a:xfrm>
          <a:prstGeom prst="rect">
            <a:avLst/>
          </a:prstGeom>
          <a:noFill/>
          <a:ln/>
        </p:spPr>
        <p:txBody>
          <a:bodyPr wrap="square" lIns="0" tIns="0" rIns="0" bIns="0" rtlCol="0" anchor="t"/>
          <a:lstStyle/>
          <a:p>
            <a:pPr indent="0" marL="0">
              <a:buNone/>
            </a:pPr>
            <a:r>
              <a:rPr lang="en-US" sz="1200" dirty="0">
                <a:solidFill>
                  <a:srgbClr val="B9AECF"/>
                </a:solidFill>
                <a:latin typeface="Arial" pitchFamily="34" charset="0"/>
                <a:ea typeface="Arial" pitchFamily="34" charset="-122"/>
                <a:cs typeface="Arial" pitchFamily="34" charset="-120"/>
              </a:rPr>
              <a:t>B2 de respaldo</a:t>
            </a:r>
            <a:endParaRPr lang="en-US" sz="1200" dirty="0"/>
          </a:p>
        </p:txBody>
      </p:sp>
      <p:sp>
        <p:nvSpPr>
          <p:cNvPr id="14" name="Shape 12"/>
          <p:cNvSpPr/>
          <p:nvPr/>
        </p:nvSpPr>
        <p:spPr>
          <a:xfrm>
            <a:off x="548640" y="3200400"/>
            <a:ext cx="2011680" cy="685800"/>
          </a:xfrm>
          <a:prstGeom prst="roundRect">
            <a:avLst>
              <a:gd name="adj" fmla="val 10667"/>
            </a:avLst>
          </a:prstGeom>
          <a:solidFill>
            <a:srgbClr val="2A1650"/>
          </a:solidFill>
          <a:ln w="15875">
            <a:solidFill>
              <a:srgbClr val="8644F9"/>
            </a:solidFill>
            <a:prstDash val="solid"/>
          </a:ln>
        </p:spPr>
      </p:sp>
      <p:sp>
        <p:nvSpPr>
          <p:cNvPr id="15" name="Text 13"/>
          <p:cNvSpPr txBox="1"/>
          <p:nvPr/>
        </p:nvSpPr>
        <p:spPr>
          <a:xfrm>
            <a:off x="621792" y="3200400"/>
            <a:ext cx="1865376" cy="685800"/>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POST /predict</a:t>
            </a:r>
            <a:endParaRPr lang="en-US" sz="1200" dirty="0"/>
          </a:p>
          <a:p>
            <a:pPr algn="ctr" indent="0" marL="0">
              <a:buNone/>
            </a:pPr>
            <a:r>
              <a:rPr lang="en-US" sz="1200" b="1" dirty="0">
                <a:solidFill>
                  <a:srgbClr val="F2EEF8"/>
                </a:solidFill>
                <a:latin typeface="Arial" pitchFamily="34" charset="0"/>
                <a:ea typeface="Arial" pitchFamily="34" charset="-122"/>
                <a:cs typeface="Arial" pitchFamily="34" charset="-120"/>
              </a:rPr>
              <a:t>texto</a:t>
            </a:r>
            <a:endParaRPr lang="en-US" sz="1200" dirty="0"/>
          </a:p>
        </p:txBody>
      </p:sp>
      <p:sp>
        <p:nvSpPr>
          <p:cNvPr id="16" name="Shape 14"/>
          <p:cNvSpPr/>
          <p:nvPr/>
        </p:nvSpPr>
        <p:spPr>
          <a:xfrm>
            <a:off x="2926080" y="3200400"/>
            <a:ext cx="3566160" cy="685800"/>
          </a:xfrm>
          <a:prstGeom prst="roundRect">
            <a:avLst>
              <a:gd name="adj" fmla="val 10667"/>
            </a:avLst>
          </a:prstGeom>
          <a:solidFill>
            <a:srgbClr val="2A1650"/>
          </a:solidFill>
          <a:ln w="15875">
            <a:solidFill>
              <a:srgbClr val="8644F9"/>
            </a:solidFill>
            <a:prstDash val="solid"/>
          </a:ln>
        </p:spPr>
      </p:sp>
      <p:sp>
        <p:nvSpPr>
          <p:cNvPr id="17" name="Text 15"/>
          <p:cNvSpPr txBox="1"/>
          <p:nvPr/>
        </p:nvSpPr>
        <p:spPr>
          <a:xfrm>
            <a:off x="2999232" y="3200400"/>
            <a:ext cx="3419856" cy="685800"/>
          </a:xfrm>
          <a:prstGeom prst="rect">
            <a:avLst/>
          </a:prstGeom>
          <a:noFill/>
          <a:ln/>
        </p:spPr>
        <p:txBody>
          <a:bodyPr wrap="square" lIns="0" tIns="0" rIns="0" bIns="0" rtlCol="0" anchor="ctr"/>
          <a:lstStyle/>
          <a:p>
            <a:pPr algn="ctr" indent="0" marL="0">
              <a:buNone/>
            </a:pPr>
            <a:r>
              <a:rPr lang="en-US" sz="1100" dirty="0">
                <a:solidFill>
                  <a:srgbClr val="F2EEF8"/>
                </a:solidFill>
                <a:latin typeface="Arial" pitchFamily="34" charset="0"/>
                <a:ea typeface="Arial" pitchFamily="34" charset="-122"/>
                <a:cs typeface="Arial" pitchFamily="34" charset="-120"/>
              </a:rPr>
              <a:t>E9b congelado: etiquetas, probabilidades y needs_review</a:t>
            </a:r>
            <a:endParaRPr lang="en-US" sz="1100" dirty="0"/>
          </a:p>
        </p:txBody>
      </p:sp>
      <p:sp>
        <p:nvSpPr>
          <p:cNvPr id="18" name="Shape 16"/>
          <p:cNvSpPr/>
          <p:nvPr/>
        </p:nvSpPr>
        <p:spPr>
          <a:xfrm>
            <a:off x="2560320" y="3543300"/>
            <a:ext cx="365760" cy="0"/>
          </a:xfrm>
          <a:prstGeom prst="line">
            <a:avLst/>
          </a:prstGeom>
          <a:noFill/>
          <a:ln w="19050">
            <a:solidFill>
              <a:srgbClr val="AD82FB"/>
            </a:solidFill>
            <a:prstDash val="solid"/>
            <a:tailEnd type="triangle"/>
          </a:ln>
        </p:spPr>
      </p:sp>
      <p:sp>
        <p:nvSpPr>
          <p:cNvPr id="19" name="Shape 17"/>
          <p:cNvSpPr/>
          <p:nvPr/>
        </p:nvSpPr>
        <p:spPr>
          <a:xfrm>
            <a:off x="548640" y="4343400"/>
            <a:ext cx="2788920" cy="868680"/>
          </a:xfrm>
          <a:prstGeom prst="roundRect">
            <a:avLst>
              <a:gd name="adj" fmla="val 8421"/>
            </a:avLst>
          </a:prstGeom>
          <a:solidFill>
            <a:srgbClr val="21103D"/>
          </a:solidFill>
          <a:ln w="15875">
            <a:solidFill>
              <a:srgbClr val="8644F9"/>
            </a:solidFill>
            <a:prstDash val="solid"/>
          </a:ln>
        </p:spPr>
      </p:sp>
      <p:sp>
        <p:nvSpPr>
          <p:cNvPr id="20" name="Text 18"/>
          <p:cNvSpPr txBox="1"/>
          <p:nvPr/>
        </p:nvSpPr>
        <p:spPr>
          <a:xfrm>
            <a:off x="621792" y="4343400"/>
            <a:ext cx="2642616" cy="868680"/>
          </a:xfrm>
          <a:prstGeom prst="rect">
            <a:avLst/>
          </a:prstGeom>
          <a:noFill/>
          <a:ln/>
        </p:spPr>
        <p:txBody>
          <a:bodyPr wrap="square" lIns="0" tIns="0" rIns="0" bIns="0" rtlCol="0" anchor="ctr"/>
          <a:lstStyle/>
          <a:p>
            <a:pPr algn="ctr" indent="0" marL="0">
              <a:buNone/>
            </a:pPr>
            <a:r>
              <a:rPr lang="en-US" sz="1100" dirty="0">
                <a:solidFill>
                  <a:srgbClr val="F2EEF8"/>
                </a:solidFill>
                <a:latin typeface="Arial" pitchFamily="34" charset="0"/>
                <a:ea typeface="Arial" pitchFamily="34" charset="-122"/>
                <a:cs typeface="Arial" pitchFamily="34" charset="-120"/>
              </a:rPr>
              <a:t>Etiqueta automática</a:t>
            </a:r>
            <a:endParaRPr lang="en-US" sz="1100" dirty="0"/>
          </a:p>
          <a:p>
            <a:pPr algn="ctr" indent="0" marL="0">
              <a:buNone/>
            </a:pPr>
            <a:r>
              <a:rPr lang="en-US" sz="1100" dirty="0">
                <a:solidFill>
                  <a:srgbClr val="F2EEF8"/>
                </a:solidFill>
                <a:latin typeface="Arial" pitchFamily="34" charset="0"/>
                <a:ea typeface="Arial" pitchFamily="34" charset="-122"/>
                <a:cs typeface="Arial" pitchFamily="34" charset="-120"/>
              </a:rPr>
              <a:t>confiable y sin riesgo</a:t>
            </a:r>
            <a:endParaRPr lang="en-US" sz="1100" dirty="0"/>
          </a:p>
        </p:txBody>
      </p:sp>
      <p:sp>
        <p:nvSpPr>
          <p:cNvPr id="21" name="Shape 19"/>
          <p:cNvSpPr/>
          <p:nvPr/>
        </p:nvSpPr>
        <p:spPr>
          <a:xfrm>
            <a:off x="3703320" y="4343400"/>
            <a:ext cx="2788920" cy="868680"/>
          </a:xfrm>
          <a:prstGeom prst="roundRect">
            <a:avLst>
              <a:gd name="adj" fmla="val 8421"/>
            </a:avLst>
          </a:prstGeom>
          <a:solidFill>
            <a:srgbClr val="21103D"/>
          </a:solidFill>
          <a:ln w="15875">
            <a:solidFill>
              <a:srgbClr val="D9637B"/>
            </a:solidFill>
            <a:prstDash val="solid"/>
          </a:ln>
        </p:spPr>
      </p:sp>
      <p:sp>
        <p:nvSpPr>
          <p:cNvPr id="22" name="Text 20"/>
          <p:cNvSpPr txBox="1"/>
          <p:nvPr/>
        </p:nvSpPr>
        <p:spPr>
          <a:xfrm>
            <a:off x="3776472" y="4343400"/>
            <a:ext cx="2642616" cy="868680"/>
          </a:xfrm>
          <a:prstGeom prst="rect">
            <a:avLst/>
          </a:prstGeom>
          <a:noFill/>
          <a:ln/>
        </p:spPr>
        <p:txBody>
          <a:bodyPr wrap="square" lIns="0" tIns="0" rIns="0" bIns="0" rtlCol="0" anchor="ctr"/>
          <a:lstStyle/>
          <a:p>
            <a:pPr algn="ctr" indent="0" marL="0">
              <a:buNone/>
            </a:pPr>
            <a:r>
              <a:rPr lang="en-US" sz="1100" dirty="0">
                <a:solidFill>
                  <a:srgbClr val="F2EEF8"/>
                </a:solidFill>
                <a:latin typeface="Arial" pitchFamily="34" charset="0"/>
                <a:ea typeface="Arial" pitchFamily="34" charset="-122"/>
                <a:cs typeface="Arial" pitchFamily="34" charset="-120"/>
              </a:rPr>
              <a:t>Revisión humana</a:t>
            </a:r>
            <a:endParaRPr lang="en-US" sz="1100" dirty="0"/>
          </a:p>
          <a:p>
            <a:pPr algn="ctr" indent="0" marL="0">
              <a:buNone/>
            </a:pPr>
            <a:r>
              <a:rPr lang="en-US" sz="1100" dirty="0">
                <a:solidFill>
                  <a:srgbClr val="F2EEF8"/>
                </a:solidFill>
                <a:latin typeface="Arial" pitchFamily="34" charset="0"/>
                <a:ea typeface="Arial" pitchFamily="34" charset="-122"/>
                <a:cs typeface="Arial" pitchFamily="34" charset="-120"/>
              </a:rPr>
              <a:t>a 0.1 del umbral, o no / cred</a:t>
            </a:r>
            <a:endParaRPr lang="en-US" sz="1100" dirty="0"/>
          </a:p>
        </p:txBody>
      </p:sp>
      <p:sp>
        <p:nvSpPr>
          <p:cNvPr id="23" name="Shape 21"/>
          <p:cNvSpPr/>
          <p:nvPr/>
        </p:nvSpPr>
        <p:spPr>
          <a:xfrm flipH="1">
            <a:off x="1920240" y="3886200"/>
            <a:ext cx="1737360" cy="457200"/>
          </a:xfrm>
          <a:prstGeom prst="line">
            <a:avLst/>
          </a:prstGeom>
          <a:noFill/>
          <a:ln w="19050">
            <a:solidFill>
              <a:srgbClr val="AD82FB"/>
            </a:solidFill>
            <a:prstDash val="solid"/>
            <a:tailEnd type="triangle"/>
          </a:ln>
        </p:spPr>
      </p:sp>
      <p:sp>
        <p:nvSpPr>
          <p:cNvPr id="24" name="Shape 22"/>
          <p:cNvSpPr/>
          <p:nvPr/>
        </p:nvSpPr>
        <p:spPr>
          <a:xfrm>
            <a:off x="5120640" y="3886200"/>
            <a:ext cx="0" cy="457200"/>
          </a:xfrm>
          <a:prstGeom prst="line">
            <a:avLst/>
          </a:prstGeom>
          <a:noFill/>
          <a:ln w="19050">
            <a:solidFill>
              <a:srgbClr val="AD82FB"/>
            </a:solidFill>
            <a:prstDash val="solid"/>
            <a:tailEnd type="triangle"/>
          </a:ln>
        </p:spPr>
      </p:sp>
      <p:sp>
        <p:nvSpPr>
          <p:cNvPr id="25" name="Shape 23"/>
          <p:cNvSpPr/>
          <p:nvPr/>
        </p:nvSpPr>
        <p:spPr>
          <a:xfrm>
            <a:off x="548640" y="5532120"/>
            <a:ext cx="5943600" cy="594360"/>
          </a:xfrm>
          <a:prstGeom prst="roundRect">
            <a:avLst>
              <a:gd name="adj" fmla="val 12308"/>
            </a:avLst>
          </a:prstGeom>
          <a:solidFill>
            <a:srgbClr val="21103D"/>
          </a:solidFill>
          <a:ln w="15875">
            <a:solidFill>
              <a:srgbClr val="3A2566"/>
            </a:solidFill>
            <a:prstDash val="solid"/>
          </a:ln>
        </p:spPr>
      </p:sp>
      <p:sp>
        <p:nvSpPr>
          <p:cNvPr id="26" name="Text 24"/>
          <p:cNvSpPr txBox="1"/>
          <p:nvPr/>
        </p:nvSpPr>
        <p:spPr>
          <a:xfrm>
            <a:off x="621792" y="5532120"/>
            <a:ext cx="5797296" cy="594360"/>
          </a:xfrm>
          <a:prstGeom prst="rect">
            <a:avLst/>
          </a:prstGeom>
          <a:noFill/>
          <a:ln/>
        </p:spPr>
        <p:txBody>
          <a:bodyPr wrap="square" lIns="0" tIns="0" rIns="0" bIns="0" rtlCol="0" anchor="ctr"/>
          <a:lstStyle/>
          <a:p>
            <a:pPr algn="ctr" indent="0" marL="0">
              <a:buNone/>
            </a:pPr>
            <a:r>
              <a:rPr lang="en-US" sz="1100" dirty="0">
                <a:solidFill>
                  <a:srgbClr val="F2EEF8"/>
                </a:solidFill>
                <a:latin typeface="Arial" pitchFamily="34" charset="0"/>
                <a:ea typeface="Arial" pitchFamily="34" charset="-122"/>
                <a:cs typeface="Arial" pitchFamily="34" charset="-120"/>
              </a:rPr>
              <a:t>Monitoreo de mezcla de etiquetas y deriva  →  reentrenamiento con etiquetas revisadas</a:t>
            </a:r>
            <a:endParaRPr lang="en-US" sz="1100" dirty="0"/>
          </a:p>
        </p:txBody>
      </p:sp>
      <p:sp>
        <p:nvSpPr>
          <p:cNvPr id="27" name="Shape 25"/>
          <p:cNvSpPr/>
          <p:nvPr/>
        </p:nvSpPr>
        <p:spPr>
          <a:xfrm>
            <a:off x="5120640" y="5212080"/>
            <a:ext cx="0" cy="320040"/>
          </a:xfrm>
          <a:prstGeom prst="line">
            <a:avLst/>
          </a:prstGeom>
          <a:noFill/>
          <a:ln w="19050">
            <a:solidFill>
              <a:srgbClr val="AD82FB"/>
            </a:solidFill>
            <a:prstDash val="solid"/>
            <a:tailEnd type="triangle"/>
          </a:ln>
        </p:spPr>
      </p:sp>
      <p:sp>
        <p:nvSpPr>
          <p:cNvPr id="28" name="Shape 26"/>
          <p:cNvSpPr/>
          <p:nvPr/>
        </p:nvSpPr>
        <p:spPr>
          <a:xfrm>
            <a:off x="6949440" y="1783080"/>
            <a:ext cx="4663440" cy="4389120"/>
          </a:xfrm>
          <a:prstGeom prst="roundRect">
            <a:avLst>
              <a:gd name="adj" fmla="val 2500"/>
            </a:avLst>
          </a:prstGeom>
          <a:solidFill>
            <a:srgbClr val="FFFFFF"/>
          </a:solidFill>
          <a:ln w="12700">
            <a:solidFill>
              <a:srgbClr val="FFFFFF"/>
            </a:solidFill>
            <a:prstDash val="solid"/>
          </a:ln>
        </p:spPr>
      </p:sp>
      <p:pic>
        <p:nvPicPr>
          <p:cNvPr id="29" name="Image 0" descr="/home/claude/deck/om/ppt/media/image9.png">    </p:cNvPr>
          <p:cNvPicPr>
            <a:picLocks noChangeAspect="1"/>
          </p:cNvPicPr>
          <p:nvPr/>
        </p:nvPicPr>
        <p:blipFill>
          <a:blip r:embed="rId1"/>
          <a:stretch>
            <a:fillRect/>
          </a:stretch>
        </p:blipFill>
        <p:spPr>
          <a:xfrm>
            <a:off x="7178040" y="1920240"/>
            <a:ext cx="4401601" cy="4206240"/>
          </a:xfrm>
          <a:prstGeom prst="rect">
            <a:avLst/>
          </a:prstGeom>
        </p:spPr>
      </p:pic>
      <p:sp>
        <p:nvSpPr>
          <p:cNvPr id="30" name="Shape 27"/>
          <p:cNvSpPr/>
          <p:nvPr/>
        </p:nvSpPr>
        <p:spPr>
          <a:xfrm>
            <a:off x="6949440" y="5760720"/>
            <a:ext cx="4663440" cy="411480"/>
          </a:xfrm>
          <a:prstGeom prst="roundRect">
            <a:avLst>
              <a:gd name="adj" fmla="val 17778"/>
            </a:avLst>
          </a:prstGeom>
          <a:solidFill>
            <a:srgbClr val="8644F9"/>
          </a:solidFill>
          <a:ln w="12700">
            <a:solidFill>
              <a:srgbClr val="8644F9"/>
            </a:solidFill>
            <a:prstDash val="solid"/>
          </a:ln>
        </p:spPr>
      </p:sp>
      <p:sp>
        <p:nvSpPr>
          <p:cNvPr id="31" name="Text 28"/>
          <p:cNvSpPr txBox="1"/>
          <p:nvPr/>
        </p:nvSpPr>
        <p:spPr>
          <a:xfrm>
            <a:off x="7040880" y="5760720"/>
            <a:ext cx="4480560" cy="411480"/>
          </a:xfrm>
          <a:prstGeom prst="rect">
            <a:avLst/>
          </a:prstGeom>
          <a:noFill/>
          <a:ln/>
        </p:spPr>
        <p:txBody>
          <a:bodyPr wrap="square" lIns="0" tIns="0" rIns="0" bIns="0" rtlCol="0" anchor="ctr"/>
          <a:lstStyle/>
          <a:p>
            <a:pPr algn="ctr" indent="0" marL="0">
              <a:buNone/>
            </a:pPr>
            <a:r>
              <a:rPr lang="en-US" sz="1200" b="1" dirty="0">
                <a:solidFill>
                  <a:srgbClr val="F2EEF8"/>
                </a:solidFill>
                <a:latin typeface="Arial" pitchFamily="34" charset="0"/>
                <a:ea typeface="Arial" pitchFamily="34" charset="-122"/>
                <a:cs typeface="Arial" pitchFamily="34" charset="-120"/>
              </a:rPr>
              <a:t>Demo en vivo: la misma API, sin conexión a internet</a:t>
            </a:r>
            <a:endParaRPr lang="en-US" sz="12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CONCLUSIÓN Y SIGUIENTES PASOS</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La siguiente mejora más barata está en el codebook y en las etiquetas, no en un modelo más grande</a:t>
            </a:r>
            <a:endParaRPr lang="en-US" sz="2500" dirty="0"/>
          </a:p>
        </p:txBody>
      </p:sp>
      <p:sp>
        <p:nvSpPr>
          <p:cNvPr id="5" name="Shape 3"/>
          <p:cNvSpPr/>
          <p:nvPr/>
        </p:nvSpPr>
        <p:spPr>
          <a:xfrm>
            <a:off x="548640" y="1783080"/>
            <a:ext cx="3520440" cy="3246120"/>
          </a:xfrm>
          <a:prstGeom prst="roundRect">
            <a:avLst>
              <a:gd name="adj" fmla="val 3380"/>
            </a:avLst>
          </a:prstGeom>
          <a:solidFill>
            <a:srgbClr val="21103D"/>
          </a:solidFill>
          <a:ln w="12700">
            <a:solidFill>
              <a:srgbClr val="21103D"/>
            </a:solidFill>
            <a:prstDash val="solid"/>
          </a:ln>
        </p:spPr>
      </p:sp>
      <p:sp>
        <p:nvSpPr>
          <p:cNvPr id="6" name="Text 4"/>
          <p:cNvSpPr txBox="1"/>
          <p:nvPr/>
        </p:nvSpPr>
        <p:spPr>
          <a:xfrm>
            <a:off x="777240" y="1965960"/>
            <a:ext cx="310896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LO QUE APRENDÍ</a:t>
            </a:r>
            <a:endParaRPr lang="en-US" sz="1100" dirty="0"/>
          </a:p>
        </p:txBody>
      </p:sp>
      <p:sp>
        <p:nvSpPr>
          <p:cNvPr id="7" name="Text 5"/>
          <p:cNvSpPr txBox="1"/>
          <p:nvPr/>
        </p:nvSpPr>
        <p:spPr>
          <a:xfrm>
            <a:off x="777240" y="2331720"/>
            <a:ext cx="3108960" cy="256032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rgbClr val="F2EEF8"/>
                </a:solidFill>
                <a:latin typeface="Arial" pitchFamily="34" charset="0"/>
                <a:ea typeface="Arial" pitchFamily="34" charset="-122"/>
                <a:cs typeface="Arial" pitchFamily="34" charset="-120"/>
              </a:rPr>
              <a:t>Una buena línea base léxica ya iguala a LASER</a:t>
            </a:r>
            <a:endParaRPr lang="en-US" sz="1400" dirty="0"/>
          </a:p>
          <a:p>
            <a:pPr marL="203200" indent="-203200">
              <a:spcAft>
                <a:spcPts val="800"/>
              </a:spcAft>
              <a:buSzPct val="100000"/>
              <a:buChar char="•"/>
            </a:pPr>
            <a:r>
              <a:rPr lang="en-US" sz="1400" dirty="0">
                <a:solidFill>
                  <a:srgbClr val="F2EEF8"/>
                </a:solidFill>
                <a:latin typeface="Arial" pitchFamily="34" charset="0"/>
                <a:ea typeface="Arial" pitchFamily="34" charset="-122"/>
                <a:cs typeface="Arial" pitchFamily="34" charset="-120"/>
              </a:rPr>
              <a:t>El fine-tuning gana porque falla distinto que TF-IDF</a:t>
            </a:r>
            <a:endParaRPr lang="en-US" sz="1400" dirty="0"/>
          </a:p>
          <a:p>
            <a:pPr marL="203200" indent="-203200">
              <a:spcAft>
                <a:spcPts val="800"/>
              </a:spcAft>
              <a:buSzPct val="100000"/>
              <a:buChar char="•"/>
            </a:pPr>
            <a:r>
              <a:rPr lang="en-US" sz="1400" dirty="0">
                <a:solidFill>
                  <a:srgbClr val="F2EEF8"/>
                </a:solidFill>
                <a:latin typeface="Arial" pitchFamily="34" charset="0"/>
                <a:ea typeface="Arial" pitchFamily="34" charset="-122"/>
                <a:cs typeface="Arial" pitchFamily="34" charset="-120"/>
              </a:rPr>
              <a:t>El techo actual lo ponen las etiquetas: temp e inv mal definidas</a:t>
            </a:r>
            <a:endParaRPr lang="en-US" sz="1400" dirty="0"/>
          </a:p>
        </p:txBody>
      </p:sp>
      <p:sp>
        <p:nvSpPr>
          <p:cNvPr id="8" name="Shape 6"/>
          <p:cNvSpPr/>
          <p:nvPr/>
        </p:nvSpPr>
        <p:spPr>
          <a:xfrm>
            <a:off x="4251960" y="1783080"/>
            <a:ext cx="3520440" cy="3246120"/>
          </a:xfrm>
          <a:prstGeom prst="roundRect">
            <a:avLst>
              <a:gd name="adj" fmla="val 3380"/>
            </a:avLst>
          </a:prstGeom>
          <a:solidFill>
            <a:srgbClr val="21103D"/>
          </a:solidFill>
          <a:ln w="12700">
            <a:solidFill>
              <a:srgbClr val="21103D"/>
            </a:solidFill>
            <a:prstDash val="solid"/>
          </a:ln>
        </p:spPr>
      </p:sp>
      <p:sp>
        <p:nvSpPr>
          <p:cNvPr id="9" name="Text 7"/>
          <p:cNvSpPr txBox="1"/>
          <p:nvPr/>
        </p:nvSpPr>
        <p:spPr>
          <a:xfrm>
            <a:off x="4480560" y="1965960"/>
            <a:ext cx="310896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LO QUE HARÍA DESPUÉS</a:t>
            </a:r>
            <a:endParaRPr lang="en-US" sz="1100" dirty="0"/>
          </a:p>
        </p:txBody>
      </p:sp>
      <p:sp>
        <p:nvSpPr>
          <p:cNvPr id="10" name="Text 8"/>
          <p:cNvSpPr txBox="1"/>
          <p:nvPr/>
        </p:nvSpPr>
        <p:spPr>
          <a:xfrm>
            <a:off x="4480560" y="2331720"/>
            <a:ext cx="3108960" cy="2560320"/>
          </a:xfrm>
          <a:prstGeom prst="rect">
            <a:avLst/>
          </a:prstGeom>
          <a:noFill/>
          <a:ln/>
        </p:spPr>
        <p:txBody>
          <a:bodyPr wrap="square" lIns="0" tIns="0" rIns="0" bIns="0" rtlCol="0" anchor="t"/>
          <a:lstStyle/>
          <a:p>
            <a:pPr marL="342900" indent="-342900">
              <a:spcAft>
                <a:spcPts val="1000"/>
              </a:spcAft>
              <a:buSzPct val="100000"/>
              <a:buFont typeface="+mj-lt"/>
              <a:buAutoNum type="arabicPeriod" startAt="1"/>
            </a:pPr>
            <a:r>
              <a:rPr lang="en-US" sz="1400" dirty="0">
                <a:solidFill>
                  <a:srgbClr val="F2EEF8"/>
                </a:solidFill>
                <a:latin typeface="Arial" pitchFamily="34" charset="0"/>
                <a:ea typeface="Arial" pitchFamily="34" charset="-122"/>
                <a:cs typeface="Arial" pitchFamily="34" charset="-120"/>
              </a:rPr>
              <a:t>Codebook: definir inv, separar temp en temporada y ciclo de cobro, crec como residual</a:t>
            </a:r>
            <a:endParaRPr lang="en-US" sz="1400" dirty="0"/>
          </a:p>
          <a:p>
            <a:pPr marL="342900" indent="-342900">
              <a:spcAft>
                <a:spcPts val="1000"/>
              </a:spcAft>
              <a:buSzPct val="100000"/>
              <a:buFont typeface="+mj-lt"/>
              <a:buAutoNum type="arabicPeriod" startAt="1"/>
            </a:pPr>
            <a:r>
              <a:rPr lang="en-US" sz="1400" dirty="0">
                <a:solidFill>
                  <a:srgbClr val="F2EEF8"/>
                </a:solidFill>
                <a:latin typeface="Arial" pitchFamily="34" charset="0"/>
                <a:ea typeface="Arial" pitchFamily="34" charset="-122"/>
                <a:cs typeface="Arial" pitchFamily="34" charset="-120"/>
              </a:rPr>
              <a:t>Reetiquetar lo que marca cleanlab, con aprendizaje activo</a:t>
            </a:r>
            <a:endParaRPr lang="en-US" sz="1400" dirty="0"/>
          </a:p>
          <a:p>
            <a:pPr marL="342900" indent="-342900">
              <a:spcAft>
                <a:spcPts val="1000"/>
              </a:spcAft>
              <a:buSzPct val="100000"/>
              <a:buFont typeface="+mj-lt"/>
              <a:buAutoNum type="arabicPeriod" startAt="1"/>
            </a:pPr>
            <a:r>
              <a:rPr lang="en-US" sz="1400" dirty="0">
                <a:solidFill>
                  <a:srgbClr val="F2EEF8"/>
                </a:solidFill>
                <a:latin typeface="Arial" pitchFamily="34" charset="0"/>
                <a:ea typeface="Arial" pitchFamily="34" charset="-122"/>
                <a:cs typeface="Arial" pitchFamily="34" charset="-120"/>
              </a:rPr>
              <a:t>Umbrales por costo para no y cred, con monitoreo</a:t>
            </a:r>
            <a:endParaRPr lang="en-US" sz="1400" dirty="0"/>
          </a:p>
        </p:txBody>
      </p:sp>
      <p:sp>
        <p:nvSpPr>
          <p:cNvPr id="11" name="Shape 9"/>
          <p:cNvSpPr/>
          <p:nvPr/>
        </p:nvSpPr>
        <p:spPr>
          <a:xfrm>
            <a:off x="7955280" y="1783080"/>
            <a:ext cx="3657600" cy="3246120"/>
          </a:xfrm>
          <a:prstGeom prst="roundRect">
            <a:avLst>
              <a:gd name="adj" fmla="val 3380"/>
            </a:avLst>
          </a:prstGeom>
          <a:solidFill>
            <a:srgbClr val="2A1650"/>
          </a:solidFill>
          <a:ln w="12700">
            <a:solidFill>
              <a:srgbClr val="2A1650"/>
            </a:solidFill>
            <a:prstDash val="solid"/>
          </a:ln>
        </p:spPr>
      </p:sp>
      <p:sp>
        <p:nvSpPr>
          <p:cNvPr id="12" name="Text 10"/>
          <p:cNvSpPr txBox="1"/>
          <p:nvPr/>
        </p:nvSpPr>
        <p:spPr>
          <a:xfrm>
            <a:off x="8183880" y="1965960"/>
            <a:ext cx="3200400" cy="274320"/>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EL CÓDIGO</a:t>
            </a:r>
            <a:endParaRPr lang="en-US" sz="1100" dirty="0"/>
          </a:p>
        </p:txBody>
      </p:sp>
      <p:sp>
        <p:nvSpPr>
          <p:cNvPr id="13" name="Text 11"/>
          <p:cNvSpPr txBox="1"/>
          <p:nvPr/>
        </p:nvSpPr>
        <p:spPr>
          <a:xfrm>
            <a:off x="8183880" y="2331720"/>
            <a:ext cx="3337560" cy="1463040"/>
          </a:xfrm>
          <a:prstGeom prst="rect">
            <a:avLst/>
          </a:prstGeom>
          <a:noFill/>
          <a:ln/>
        </p:spPr>
        <p:txBody>
          <a:bodyPr wrap="square" lIns="0" tIns="0" rIns="0" bIns="0" rtlCol="0" anchor="t"/>
          <a:lstStyle/>
          <a:p>
            <a:pPr indent="0" marL="0">
              <a:spcAft>
                <a:spcPts val="300"/>
              </a:spcAft>
              <a:buNone/>
            </a:pPr>
            <a:r>
              <a:rPr lang="en-US" sz="1000" dirty="0">
                <a:solidFill>
                  <a:srgbClr val="F2EEF8"/>
                </a:solidFill>
                <a:latin typeface="Courier New" pitchFamily="34" charset="0"/>
                <a:ea typeface="Courier New" pitchFamily="34" charset="-122"/>
                <a:cs typeface="Courier New" pitchFamily="34" charset="-120"/>
              </a:rPr>
              <a:t>configs/     config y modelo fijo</a:t>
            </a:r>
            <a:endParaRPr lang="en-US" sz="1000" dirty="0"/>
          </a:p>
          <a:p>
            <a:pPr indent="0" marL="0">
              <a:spcAft>
                <a:spcPts val="300"/>
              </a:spcAft>
              <a:buNone/>
            </a:pPr>
            <a:r>
              <a:rPr lang="en-US" sz="1000" dirty="0">
                <a:solidFill>
                  <a:srgbClr val="F2EEF8"/>
                </a:solidFill>
                <a:latin typeface="Courier New" pitchFamily="34" charset="0"/>
                <a:ea typeface="Courier New" pitchFamily="34" charset="-122"/>
                <a:cs typeface="Courier New" pitchFamily="34" charset="-120"/>
              </a:rPr>
              <a:t>src/intent/  datos, features, modelos</a:t>
            </a:r>
            <a:endParaRPr lang="en-US" sz="1000" dirty="0"/>
          </a:p>
          <a:p>
            <a:pPr indent="0" marL="0">
              <a:spcAft>
                <a:spcPts val="300"/>
              </a:spcAft>
              <a:buNone/>
            </a:pPr>
            <a:r>
              <a:rPr lang="en-US" sz="1000" dirty="0">
                <a:solidFill>
                  <a:srgbClr val="F2EEF8"/>
                </a:solidFill>
                <a:latin typeface="Courier New" pitchFamily="34" charset="0"/>
                <a:ea typeface="Courier New" pitchFamily="34" charset="-122"/>
                <a:cs typeface="Courier New" pitchFamily="34" charset="-120"/>
              </a:rPr>
              <a:t>notebooks/   uno por fase CRISP-DM</a:t>
            </a:r>
            <a:endParaRPr lang="en-US" sz="1000" dirty="0"/>
          </a:p>
          <a:p>
            <a:pPr indent="0" marL="0">
              <a:spcAft>
                <a:spcPts val="300"/>
              </a:spcAft>
              <a:buNone/>
            </a:pPr>
            <a:r>
              <a:rPr lang="en-US" sz="1000" dirty="0">
                <a:solidFill>
                  <a:srgbClr val="F2EEF8"/>
                </a:solidFill>
                <a:latin typeface="Courier New" pitchFamily="34" charset="0"/>
                <a:ea typeface="Courier New" pitchFamily="34" charset="-122"/>
                <a:cs typeface="Courier New" pitchFamily="34" charset="-120"/>
              </a:rPr>
              <a:t>reports/     reporte y resultados</a:t>
            </a:r>
            <a:endParaRPr lang="en-US" sz="1000" dirty="0"/>
          </a:p>
          <a:p>
            <a:pPr indent="0" marL="0">
              <a:spcAft>
                <a:spcPts val="300"/>
              </a:spcAft>
              <a:buNone/>
            </a:pPr>
            <a:r>
              <a:rPr lang="en-US" sz="1000" dirty="0">
                <a:solidFill>
                  <a:srgbClr val="F2EEF8"/>
                </a:solidFill>
                <a:latin typeface="Courier New" pitchFamily="34" charset="0"/>
                <a:ea typeface="Courier New" pitchFamily="34" charset="-122"/>
                <a:cs typeface="Courier New" pitchFamily="34" charset="-120"/>
              </a:rPr>
              <a:t>tests/       pruebas pytest</a:t>
            </a:r>
            <a:endParaRPr lang="en-US" sz="1000" dirty="0"/>
          </a:p>
          <a:p>
            <a:pPr indent="0" marL="0">
              <a:spcAft>
                <a:spcPts val="300"/>
              </a:spcAft>
              <a:buNone/>
            </a:pPr>
            <a:r>
              <a:rPr lang="en-US" sz="1000" dirty="0">
                <a:solidFill>
                  <a:srgbClr val="F2EEF8"/>
                </a:solidFill>
                <a:latin typeface="Courier New" pitchFamily="34" charset="0"/>
                <a:ea typeface="Courier New" pitchFamily="34" charset="-122"/>
                <a:cs typeface="Courier New" pitchFamily="34" charset="-120"/>
              </a:rPr>
              <a:t>app/         demo Streamlit</a:t>
            </a:r>
            <a:endParaRPr lang="en-US" sz="1000" dirty="0"/>
          </a:p>
        </p:txBody>
      </p:sp>
      <p:sp>
        <p:nvSpPr>
          <p:cNvPr id="14" name="Text 12"/>
          <p:cNvSpPr txBox="1"/>
          <p:nvPr/>
        </p:nvSpPr>
        <p:spPr>
          <a:xfrm>
            <a:off x="8183880" y="3840480"/>
            <a:ext cx="3291840" cy="274320"/>
          </a:xfrm>
          <a:prstGeom prst="rect">
            <a:avLst/>
          </a:prstGeom>
          <a:noFill/>
          <a:ln/>
        </p:spPr>
        <p:txBody>
          <a:bodyPr wrap="square" lIns="0" tIns="0" rIns="0" bIns="0" rtlCol="0" anchor="t"/>
          <a:lstStyle/>
          <a:p>
            <a:pPr indent="0" marL="0">
              <a:buNone/>
            </a:pPr>
            <a:r>
              <a:rPr lang="en-US" sz="1100" b="1" dirty="0">
                <a:solidFill>
                  <a:srgbClr val="AD82FB"/>
                </a:solidFill>
                <a:latin typeface="Arial" pitchFamily="34" charset="0"/>
                <a:ea typeface="Arial" pitchFamily="34" charset="-122"/>
                <a:cs typeface="Arial" pitchFamily="34" charset="-120"/>
              </a:rPr>
              <a:t>make data · train · evaluate · demo</a:t>
            </a:r>
            <a:endParaRPr lang="en-US" sz="1100" dirty="0"/>
          </a:p>
        </p:txBody>
      </p:sp>
      <p:sp>
        <p:nvSpPr>
          <p:cNvPr id="15" name="Text 13"/>
          <p:cNvSpPr txBox="1"/>
          <p:nvPr/>
        </p:nvSpPr>
        <p:spPr>
          <a:xfrm>
            <a:off x="8183880" y="4206240"/>
            <a:ext cx="3291840" cy="685800"/>
          </a:xfrm>
          <a:prstGeom prst="rect">
            <a:avLst/>
          </a:prstGeom>
          <a:noFill/>
          <a:ln/>
        </p:spPr>
        <p:txBody>
          <a:bodyPr wrap="square" lIns="0" tIns="0" rIns="0" bIns="0" rtlCol="0" anchor="t"/>
          <a:lstStyle/>
          <a:p>
            <a:pPr indent="0" marL="0">
              <a:buNone/>
            </a:pPr>
            <a:r>
              <a:rPr lang="en-US" sz="1100" dirty="0">
                <a:solidFill>
                  <a:srgbClr val="B9AECF"/>
                </a:solidFill>
                <a:latin typeface="Arial" pitchFamily="34" charset="0"/>
                <a:ea typeface="Arial" pitchFamily="34" charset="-122"/>
                <a:cs typeface="Arial" pitchFamily="34" charset="-120"/>
              </a:rPr>
              <a:t>Repositorio adjunto a esta entrega; los datos no se incluyen por ser confidenciales</a:t>
            </a:r>
            <a:endParaRPr lang="en-US" sz="1100" dirty="0"/>
          </a:p>
        </p:txBody>
      </p:sp>
      <p:sp>
        <p:nvSpPr>
          <p:cNvPr id="16" name="Shape 14"/>
          <p:cNvSpPr/>
          <p:nvPr/>
        </p:nvSpPr>
        <p:spPr>
          <a:xfrm>
            <a:off x="548640" y="5257800"/>
            <a:ext cx="11064240" cy="914400"/>
          </a:xfrm>
          <a:prstGeom prst="roundRect">
            <a:avLst>
              <a:gd name="adj" fmla="val 12000"/>
            </a:avLst>
          </a:prstGeom>
          <a:solidFill>
            <a:srgbClr val="8644F9"/>
          </a:solidFill>
          <a:ln w="12700">
            <a:solidFill>
              <a:srgbClr val="8644F9"/>
            </a:solidFill>
            <a:prstDash val="solid"/>
          </a:ln>
        </p:spPr>
      </p:sp>
      <p:sp>
        <p:nvSpPr>
          <p:cNvPr id="17" name="Text 15"/>
          <p:cNvSpPr txBox="1"/>
          <p:nvPr/>
        </p:nvSpPr>
        <p:spPr>
          <a:xfrm>
            <a:off x="822960" y="5257800"/>
            <a:ext cx="10515600" cy="914400"/>
          </a:xfrm>
          <a:prstGeom prst="rect">
            <a:avLst/>
          </a:prstGeom>
          <a:noFill/>
          <a:ln/>
        </p:spPr>
        <p:txBody>
          <a:bodyPr wrap="square" lIns="0" tIns="0" rIns="0" bIns="0" rtlCol="0" anchor="ctr"/>
          <a:lstStyle/>
          <a:p>
            <a:pPr indent="0" marL="0">
              <a:buNone/>
            </a:pPr>
            <a:r>
              <a:rPr lang="en-US" sz="1800" b="1" dirty="0">
                <a:solidFill>
                  <a:srgbClr val="F2EEF8"/>
                </a:solidFill>
                <a:latin typeface="Arial" pitchFamily="34" charset="0"/>
                <a:ea typeface="Arial" pitchFamily="34" charset="-122"/>
                <a:cs typeface="Arial" pitchFamily="34" charset="-120"/>
              </a:rPr>
              <a:t>¿Se puede clasificar mejor? Sí, y el siguiente salto viene de mejorar las etiquetas, no el modelo</a:t>
            </a:r>
            <a:endParaRPr lang="en-US" sz="1800" dirty="0"/>
          </a:p>
        </p:txBody>
      </p:sp>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29184"/>
            <a:ext cx="118872" cy="118872"/>
          </a:xfrm>
          <a:prstGeom prst="ellipse">
            <a:avLst/>
          </a:prstGeom>
          <a:solidFill>
            <a:srgbClr val="8644F9"/>
          </a:solidFill>
          <a:ln w="12700">
            <a:solidFill>
              <a:srgbClr val="8644F9"/>
            </a:solidFill>
            <a:prstDash val="solid"/>
          </a:ln>
        </p:spPr>
      </p:sp>
      <p:sp>
        <p:nvSpPr>
          <p:cNvPr id="3" name="Text 1"/>
          <p:cNvSpPr txBox="1"/>
          <p:nvPr/>
        </p:nvSpPr>
        <p:spPr>
          <a:xfrm>
            <a:off x="749808" y="265176"/>
            <a:ext cx="8229600" cy="256032"/>
          </a:xfrm>
          <a:prstGeom prst="rect">
            <a:avLst/>
          </a:prstGeom>
          <a:noFill/>
          <a:ln/>
        </p:spPr>
        <p:txBody>
          <a:bodyPr wrap="square" lIns="0" tIns="0" rIns="0" bIns="0" rtlCol="0" anchor="t"/>
          <a:lstStyle/>
          <a:p>
            <a:pPr indent="0" marL="0">
              <a:buNone/>
            </a:pPr>
            <a:r>
              <a:rPr lang="en-US" sz="1100" b="1" spc="200" kern="0" dirty="0">
                <a:solidFill>
                  <a:srgbClr val="AD82FB"/>
                </a:solidFill>
                <a:latin typeface="Arial" pitchFamily="34" charset="0"/>
                <a:ea typeface="Arial" pitchFamily="34" charset="-122"/>
                <a:cs typeface="Arial" pitchFamily="34" charset="-120"/>
              </a:rPr>
              <a:t>APÉNDICE</a:t>
            </a:r>
            <a:endParaRPr lang="en-US" sz="1100" dirty="0"/>
          </a:p>
        </p:txBody>
      </p:sp>
      <p:sp>
        <p:nvSpPr>
          <p:cNvPr id="4" name="Text 0"/>
          <p:cNvSpPr/>
          <p:nvPr>
            <p:ph idx="101" type="title" hasCustomPrompt="1"/>
          </p:nvPr>
        </p:nvSpPr>
        <p:spPr>
          <a:xfrm>
            <a:off x="548640" y="658368"/>
            <a:ext cx="11064240" cy="960120"/>
          </a:xfrm>
          <a:prstGeom prst="rect">
            <a:avLst/>
          </a:prstGeom>
          <a:noFill/>
          <a:ln/>
        </p:spPr>
        <p:txBody>
          <a:bodyPr wrap="square" lIns="0" tIns="0" rIns="0" bIns="0" rtlCol="0" anchor="t"/>
          <a:lstStyle/>
          <a:p>
            <a:pPr algn="l" indent="0" marL="0">
              <a:buNone/>
            </a:pPr>
            <a:r>
              <a:rPr lang="en-US" sz="2500" b="1" dirty="0">
                <a:solidFill>
                  <a:srgbClr val="F2EEF8"/>
                </a:solidFill>
                <a:latin typeface="Arial" pitchFamily="34" charset="0"/>
                <a:ea typeface="Arial" pitchFamily="34" charset="-122"/>
                <a:cs typeface="Arial" pitchFamily="34" charset="-120"/>
              </a:rPr>
              <a:t>Ablación completa en CV: el intervalo de E9b no se traslapa con el de B2</a:t>
            </a:r>
            <a:endParaRPr lang="en-US" sz="2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1828800"/>
                <a:gridCol w="4114800"/>
                <a:gridCol w="2194560"/>
                <a:gridCol w="1005840"/>
                <a:gridCol w="1005840"/>
                <a:gridCol w="914400"/>
              </a:tblGrid>
              <a:tr h="265176">
                <a:tc>
                  <a:txBody>
                    <a:bodyPr/>
                    <a:lstStyle/>
                    <a:p>
                      <a:pPr indent="0" marL="0">
                        <a:buNone/>
                      </a:pPr>
                      <a:r>
                        <a:rPr lang="en-US" sz="1100" b="1" dirty="0">
                          <a:solidFill>
                            <a:srgbClr val="F2EEF8"/>
                          </a:solidFill>
                          <a:latin typeface="Arial" pitchFamily="34" charset="0"/>
                          <a:ea typeface="Arial" pitchFamily="34" charset="-122"/>
                          <a:cs typeface="Arial" pitchFamily="34" charset="-120"/>
                        </a:rPr>
                        <a:t>Experimento</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Qué cambia</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Macro F1 [IC 95%]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Micro F1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Hamming</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temp F1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No predecir ninguna etiqueta</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0.000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0.000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0.1143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0.000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Siempre la etiqueta más frecuente (inv)</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0.051 [0.050, 0.053]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0.323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0.1451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0.000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B2, umbral 0.5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TF-IDF + LR, sin umbrales ni reglas</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0.664 [0.652, 0.676]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0.726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0.0683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0.370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B2 (referencia)</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 umbrales out-of-fold y ambas reglas</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0.671 [0.659, 0.684]</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0.736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0.0650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0.384</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B2_margin</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Al menos una etiqueta, por mayor margen</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0.673 [0.661, 0.686]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0.738</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0.0646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0.401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Cadena de clasificadores</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0.665 [0.652, 0.678]</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0.735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0.0642</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0.372</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B2_codebook</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B2 + 10 similitudes con el codebook</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0.666 [0.654, 0.679]</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0.731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0.0655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0.392</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E3_e5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e5 congelado + LR, umbrales y reglas</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0.601 [0.589, 0.613]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0.672</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0.0811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0.250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E3_mpnet</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mpnet congelado + LR, umbrales y reglas</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0.588 [0.574, 0.601]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0.651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0.0871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0.291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E4</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Cabeza del e5 con fine-tuning</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0.701 [0.688, 0.714]</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0.758</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0.0575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0.410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Embedding con fine-tuning + LR</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0.637 [0.625, 0.649]</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0.693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0.0749</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0.320</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Embedding + prob. B2 + codebook, LR</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0.642 [0.629, 0.653]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0.693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0.0762</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0.271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E7</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Mismas features, LightGBM</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0.702 [0.691, 0.715]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0.759</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0.0578</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0.355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E8</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Primero no contra negocio, luego E7</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0.693 [0.680, 0.706]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0.753</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0.0585</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0.377</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dirty="0">
                          <a:solidFill>
                            <a:srgbClr val="F2EEF8"/>
                          </a:solidFill>
                          <a:latin typeface="Arial" pitchFamily="34" charset="0"/>
                          <a:ea typeface="Arial" pitchFamily="34" charset="-122"/>
                          <a:cs typeface="Arial" pitchFamily="34" charset="-120"/>
                        </a:rPr>
                        <a:t>E9</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Mezcla B2 + E7</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0.712 [0.700, 0.724]</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0.766</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0.0562</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c>
                  <a:txBody>
                    <a:bodyPr/>
                    <a:lstStyle/>
                    <a:p>
                      <a:pPr indent="0" marL="0">
                        <a:buNone/>
                      </a:pPr>
                      <a:r>
                        <a:rPr lang="en-US" sz="1100" dirty="0">
                          <a:solidFill>
                            <a:srgbClr val="F2EEF8"/>
                          </a:solidFill>
                          <a:latin typeface="Arial" pitchFamily="34" charset="0"/>
                          <a:ea typeface="Arial" pitchFamily="34" charset="-122"/>
                          <a:cs typeface="Arial" pitchFamily="34" charset="-120"/>
                        </a:rPr>
                        <a:t>0.399</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21103D"/>
                    </a:solidFill>
                  </a:tcPr>
                </a:tc>
              </a:tr>
              <a:tr h="265176">
                <a:tc>
                  <a:txBody>
                    <a:bodyPr/>
                    <a:lstStyle/>
                    <a:p>
                      <a:pPr indent="0" marL="0">
                        <a:buNone/>
                      </a:pPr>
                      <a:r>
                        <a:rPr lang="en-US" sz="1100" b="1" dirty="0">
                          <a:solidFill>
                            <a:srgbClr val="F2EEF8"/>
                          </a:solidFill>
                          <a:latin typeface="Arial" pitchFamily="34" charset="0"/>
                          <a:ea typeface="Arial" pitchFamily="34" charset="-122"/>
                          <a:cs typeface="Arial" pitchFamily="34" charset="-120"/>
                        </a:rPr>
                        <a:t>E9b (seleccionado)</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Mezcla B2 + E4</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0.715 [0.703, 0.727]</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0.771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0.0547</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c>
                  <a:txBody>
                    <a:bodyPr/>
                    <a:lstStyle/>
                    <a:p>
                      <a:pPr indent="0" marL="0">
                        <a:buNone/>
                      </a:pPr>
                      <a:r>
                        <a:rPr lang="en-US" sz="1100" b="1" dirty="0">
                          <a:solidFill>
                            <a:srgbClr val="F2EEF8"/>
                          </a:solidFill>
                          <a:latin typeface="Arial" pitchFamily="34" charset="0"/>
                          <a:ea typeface="Arial" pitchFamily="34" charset="-122"/>
                          <a:cs typeface="Arial" pitchFamily="34" charset="-120"/>
                        </a:rPr>
                        <a:t>0.421</a:t>
                      </a:r>
                      <a:endParaRPr lang="en-US" sz="1100" dirty="0">
                        <a:latin typeface="Arial" charset="0"/>
                        <a:ea typeface="Arial" charset="0"/>
                        <a:cs typeface="Arial" charset="0"/>
                      </a:endParaRPr>
                    </a:p>
                  </a:txBody>
                  <a:tcPr marL="73152" marR="73152" marT="0" marB="0" anchor="ctr">
                    <a:lnL w="6350" cap="flat" cmpd="sng" algn="ctr">
                      <a:solidFill>
                        <a:srgbClr val="3A2566"/>
                      </a:solidFill>
                      <a:prstDash val="solid"/>
                      <a:round/>
                      <a:headEnd type="none" w="med" len="med"/>
                      <a:tailEnd type="none" w="med" len="med"/>
                    </a:lnL>
                    <a:lnR w="6350" cap="flat" cmpd="sng" algn="ctr">
                      <a:solidFill>
                        <a:srgbClr val="3A2566"/>
                      </a:solidFill>
                      <a:prstDash val="solid"/>
                      <a:round/>
                      <a:headEnd type="none" w="med" len="med"/>
                      <a:tailEnd type="none" w="med" len="med"/>
                    </a:lnR>
                    <a:lnT w="6350" cap="flat" cmpd="sng" algn="ctr">
                      <a:solidFill>
                        <a:srgbClr val="3A2566"/>
                      </a:solidFill>
                      <a:prstDash val="solid"/>
                      <a:round/>
                      <a:headEnd type="none" w="med" len="med"/>
                      <a:tailEnd type="none" w="med" len="med"/>
                    </a:lnT>
                    <a:lnB w="6350" cap="flat" cmpd="sng" algn="ctr">
                      <a:solidFill>
                        <a:srgbClr val="3A2566"/>
                      </a:solidFill>
                      <a:prstDash val="solid"/>
                      <a:round/>
                      <a:headEnd type="none" w="med" len="med"/>
                      <a:tailEnd type="none" w="med" len="med"/>
                    </a:lnB>
                    <a:solidFill>
                      <a:srgbClr val="5B2DB8"/>
                    </a:solidFill>
                  </a:tcPr>
                </a:tc>
              </a:tr>
            </a:tbl>
          </a:graphicData>
        </a:graphic>
      </p:graphicFrame>
      <p:sp>
        <p:nvSpPr>
          <p:cNvPr id="25" name="Slide Number Placeholder 0"/>
          <p:cNvSpPr>
            <a:spLocks noGrp="1"/>
          </p:cNvSpPr>
          <p:nvPr>
            <p:ph type="sldNum" sz="quarter" idx="4294967295"/>
          </p:nvPr>
        </p:nvSpPr>
        <p:spPr>
          <a:xfrm>
            <a:off x="548640" y="630936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8499"/>
                </a:solidFill>
                <a:latin typeface="Arial"/>
                <a:ea typeface="Arial"/>
                <a:cs typeface="Arial"/>
              </a:defRPr>
            </a:lvl1pPr>
          </a:lstStyle>
          <a:p>
            <a:pPr algn="l"/>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Konfio Dark">
  <a:themeElements>
    <a:clrScheme name="Konfio Dark">
      <a:dk1>
        <a:srgbClr val="000000"/>
      </a:dk1>
      <a:lt1>
        <a:srgbClr val="FFFFFF"/>
      </a:lt1>
      <a:dk2>
        <a:srgbClr val="140527"/>
      </a:dk2>
      <a:lt2>
        <a:srgbClr val="F2EEF8"/>
      </a:lt2>
      <a:accent1>
        <a:srgbClr val="8644F9"/>
      </a:accent1>
      <a:accent2>
        <a:srgbClr val="AD82FB"/>
      </a:accent2>
      <a:accent3>
        <a:srgbClr val="D9637B"/>
      </a:accent3>
      <a:accent4>
        <a:srgbClr val="8A8499"/>
      </a:accent4>
      <a:accent5>
        <a:srgbClr val="5B2DB8"/>
      </a:accent5>
      <a:accent6>
        <a:srgbClr val="D7C6FD"/>
      </a:accent6>
      <a:hlink>
        <a:srgbClr val="AD82FB"/>
      </a:hlink>
      <a:folHlink>
        <a:srgbClr val="8A8499"/>
      </a:folHlink>
    </a:clrScheme>
    <a:fontScheme name="Konfio Dark">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Clasificación de motivos de crédito PyME</dc:title>
  <dc:subject>PptxGenJS Presentation</dc:subject>
  <dc:creator>Edwin Aldair Espinoza</dc:creator>
  <cp:lastModifiedBy>Edwin Aldair Espinoza</cp:lastModifiedBy>
  <cp:revision>1</cp:revision>
  <dcterms:created xsi:type="dcterms:W3CDTF">2026-10-05T01:12:47Z</dcterms:created>
  <dcterms:modified xsi:type="dcterms:W3CDTF">2026-10-05T01:12:47Z</dcterms:modified>
</cp:coreProperties>
</file>