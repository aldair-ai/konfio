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8"/>
  </p:notesMasterIdLst>
  <p:handoutMasterIdLst>
    <p:handoutMasterId r:id="rId19"/>
  </p:handoutMasterIdLst>
  <p:sldIdLst>
    <p:sldId id="278" r:id="rId5"/>
    <p:sldId id="282" r:id="rId6"/>
    <p:sldId id="271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57" autoAdjust="0"/>
    <p:restoredTop sz="95388" autoAdjust="0"/>
  </p:normalViewPr>
  <p:slideViewPr>
    <p:cSldViewPr snapToGrid="0">
      <p:cViewPr varScale="1">
        <p:scale>
          <a:sx n="100" d="100"/>
          <a:sy n="100" d="100"/>
        </p:scale>
        <p:origin x="84" y="57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97" d="100"/>
          <a:sy n="97" d="100"/>
        </p:scale>
        <p:origin x="286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2BBF27DE-5C3A-4CCD-8641-61F52695C304}" type="datetime1">
              <a:rPr lang="es-ES" smtClean="0"/>
              <a:t>04/10/2026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CFA70580-B89C-4157-871D-6B9318EE5F5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A3805A43-B146-455D-9241-6D9C595C938E}" type="datetime1">
              <a:rPr lang="es-ES" smtClean="0"/>
              <a:t>04/10/2026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7AF00E9-A49D-4007-B3B9-A3783809E50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163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33056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70488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33860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804353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25592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460098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863614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7262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s-ES" dirty="0"/>
            </a:lvl1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agregar un título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</p:spTree>
    <p:extLst>
      <p:ext uri="{BB962C8B-B14F-4D97-AF65-F5344CB8AC3E}">
        <p14:creationId xmlns:p14="http://schemas.microsoft.com/office/powerpoint/2010/main" val="286820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o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7" name="Forma libre: Forma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ítulo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rtlCol="0" anchor="b">
            <a:normAutofit/>
          </a:bodyPr>
          <a:lstStyle>
            <a:lvl1pPr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22" name="Marcador de contenido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lvl1pPr marL="0" indent="0">
              <a:buNone/>
              <a:defRPr lang="es-ES" sz="1800">
                <a:solidFill>
                  <a:schemeClr val="tx1"/>
                </a:solidFill>
              </a:defRPr>
            </a:lvl1pPr>
            <a:lvl2pPr>
              <a:defRPr lang="es-ES" sz="1200">
                <a:solidFill>
                  <a:schemeClr val="tx1"/>
                </a:solidFill>
              </a:defRPr>
            </a:lvl2pPr>
            <a:lvl3pPr>
              <a:defRPr lang="es-ES" sz="1200">
                <a:solidFill>
                  <a:schemeClr val="tx1"/>
                </a:solidFill>
              </a:defRPr>
            </a:lvl3pPr>
            <a:lvl4pPr>
              <a:defRPr lang="es-ES" sz="1200">
                <a:solidFill>
                  <a:schemeClr val="tx1"/>
                </a:solidFill>
              </a:defRPr>
            </a:lvl4pPr>
            <a:lvl5pPr>
              <a:defRPr lang="es-ES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" name="Forma libre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11" name="Elipse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orma libre: Forma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orma libre: Forma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6" name="Elipse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orma libre: Forma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rtlCol="0" anchor="ctr">
            <a:noAutofit/>
          </a:bodyPr>
          <a:lstStyle>
            <a:lvl1pPr algn="l">
              <a:defRPr lang="es-ES" sz="54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 rtlCol="0">
            <a:no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289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+ subtítulo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rtlCol="0" anchor="b">
            <a:noAutofit/>
          </a:bodyPr>
          <a:lstStyle>
            <a:lvl1pPr algn="l"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 rtlCol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es-ES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60ABD6E1-FE78-D78B-E80C-09490F5D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62BB1BCD-5C1C-ED05-D6B4-F92367209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Forma libre 5">
              <a:extLst>
                <a:ext uri="{FF2B5EF4-FFF2-40B4-BE49-F238E27FC236}">
                  <a16:creationId xmlns:a16="http://schemas.microsoft.com/office/drawing/2014/main" id="{700A5CAB-28E9-FB7A-E72E-39F3ADE58C6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2" name="Forma libre 6">
              <a:extLst>
                <a:ext uri="{FF2B5EF4-FFF2-40B4-BE49-F238E27FC236}">
                  <a16:creationId xmlns:a16="http://schemas.microsoft.com/office/drawing/2014/main" id="{2BA2D9BC-CA87-28FA-7A02-455E740EAC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3" name="Forma libre 8">
              <a:extLst>
                <a:ext uri="{FF2B5EF4-FFF2-40B4-BE49-F238E27FC236}">
                  <a16:creationId xmlns:a16="http://schemas.microsoft.com/office/drawing/2014/main" id="{734E5ADF-EEF0-2501-9D7B-8FC1A49F60A7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8" name="Marcador de posición de imagen 14">
            <a:extLst>
              <a:ext uri="{FF2B5EF4-FFF2-40B4-BE49-F238E27FC236}">
                <a16:creationId xmlns:a16="http://schemas.microsoft.com/office/drawing/2014/main" id="{780F3839-9B1B-2346-C1F4-E876E6AE32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 rtlCol="0">
            <a:noAutofit/>
          </a:bodyPr>
          <a:lstStyle>
            <a:lvl1pPr marL="0" indent="0" algn="ctr">
              <a:buNone/>
              <a:defRPr lang="es-ES" sz="18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5007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orma libre: Forma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orma libre: Forma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1" name="Elipse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orma libre: Forma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s-ES" sz="4000" dirty="0"/>
            </a:lvl1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/>
          </a:bodyPr>
          <a:lstStyle>
            <a:lvl1pPr>
              <a:defRPr lang="es-ES" sz="1800">
                <a:solidFill>
                  <a:schemeClr val="tx1"/>
                </a:solidFill>
              </a:defRPr>
            </a:lvl1pPr>
            <a:lvl2pPr>
              <a:defRPr lang="es-ES" sz="1200">
                <a:solidFill>
                  <a:schemeClr val="tx1"/>
                </a:solidFill>
              </a:defRPr>
            </a:lvl2pPr>
            <a:lvl3pPr>
              <a:defRPr lang="es-ES" sz="1200">
                <a:solidFill>
                  <a:schemeClr val="tx1"/>
                </a:solidFill>
              </a:defRPr>
            </a:lvl3pPr>
            <a:lvl4pPr>
              <a:defRPr lang="es-ES" sz="1200">
                <a:solidFill>
                  <a:schemeClr val="tx1"/>
                </a:solidFill>
              </a:defRPr>
            </a:lvl4pPr>
            <a:lvl5pPr>
              <a:defRPr lang="es-ES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6099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+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rtlCol="0" anchor="b">
            <a:noAutofit/>
          </a:bodyPr>
          <a:lstStyle>
            <a:lvl1pPr algn="ctr">
              <a:defRPr lang="es-ES" sz="54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 rtlCol="0">
            <a:noAutofit/>
          </a:bodyPr>
          <a:lstStyle>
            <a:lvl1pPr marL="0" indent="0" algn="ctr">
              <a:buNone/>
              <a:defRPr lang="es-ES" sz="1800">
                <a:solidFill>
                  <a:schemeClr val="tx1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3552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lipse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61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ido + image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974" y="196900"/>
            <a:ext cx="4899628" cy="2331490"/>
          </a:xfrm>
        </p:spPr>
        <p:txBody>
          <a:bodyPr rtlCol="0" anchor="b" anchorCtr="0">
            <a:noAutofit/>
          </a:bodyPr>
          <a:lstStyle>
            <a:lvl1pPr algn="r"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3162" y="2827209"/>
            <a:ext cx="4917440" cy="3442144"/>
          </a:xfrm>
        </p:spPr>
        <p:txBody>
          <a:bodyPr rtlCol="0">
            <a:normAutofit/>
          </a:bodyPr>
          <a:lstStyle>
            <a:lvl1pPr marL="0" indent="0" algn="r">
              <a:buNone/>
              <a:defRPr lang="es-ES" sz="1800">
                <a:solidFill>
                  <a:schemeClr val="tx1"/>
                </a:solidFill>
              </a:defRPr>
            </a:lvl1pPr>
            <a:lvl2pPr algn="r">
              <a:defRPr lang="es-ES" sz="1200">
                <a:solidFill>
                  <a:schemeClr val="tx1"/>
                </a:solidFill>
              </a:defRPr>
            </a:lvl2pPr>
            <a:lvl3pPr algn="r">
              <a:defRPr lang="es-ES" sz="1200">
                <a:solidFill>
                  <a:schemeClr val="tx1"/>
                </a:solidFill>
              </a:defRPr>
            </a:lvl3pPr>
            <a:lvl4pPr algn="r">
              <a:defRPr lang="es-ES" sz="1200">
                <a:solidFill>
                  <a:schemeClr val="tx1"/>
                </a:solidFill>
              </a:defRPr>
            </a:lvl4pPr>
            <a:lvl5pPr algn="r">
              <a:defRPr lang="es-ES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588" y="0"/>
            <a:ext cx="6095998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A904CD02-7C7D-28DD-85A8-2FD92C29D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9" name="Forma libre 5">
              <a:extLst>
                <a:ext uri="{FF2B5EF4-FFF2-40B4-BE49-F238E27FC236}">
                  <a16:creationId xmlns:a16="http://schemas.microsoft.com/office/drawing/2014/main" id="{FB7341D0-DC30-9661-B3E0-91DE7C37946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0" name="Forma libre 6">
              <a:extLst>
                <a:ext uri="{FF2B5EF4-FFF2-40B4-BE49-F238E27FC236}">
                  <a16:creationId xmlns:a16="http://schemas.microsoft.com/office/drawing/2014/main" id="{92A118B5-9F91-EA1B-3F95-6BFA5095544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1" name="Forma libre 8">
              <a:extLst>
                <a:ext uri="{FF2B5EF4-FFF2-40B4-BE49-F238E27FC236}">
                  <a16:creationId xmlns:a16="http://schemas.microsoft.com/office/drawing/2014/main" id="{208891A5-91FA-D924-CB46-E74B50635001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15" name="Elipse 14">
            <a:extLst>
              <a:ext uri="{FF2B5EF4-FFF2-40B4-BE49-F238E27FC236}">
                <a16:creationId xmlns:a16="http://schemas.microsoft.com/office/drawing/2014/main" id="{BE5F7483-2261-D4C4-30E3-2D379D8CA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35617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ido +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50801"/>
            <a:ext cx="11090275" cy="1237360"/>
          </a:xfrm>
        </p:spPr>
        <p:txBody>
          <a:bodyPr rtlCol="0" anchor="t" anchorCtr="0">
            <a:noAutofit/>
          </a:bodyPr>
          <a:lstStyle>
            <a:lvl1pPr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3720" y="1917065"/>
            <a:ext cx="2921000" cy="4297680"/>
          </a:xfrm>
        </p:spPr>
        <p:txBody>
          <a:bodyPr rtlCol="0">
            <a:normAutofit/>
          </a:bodyPr>
          <a:lstStyle>
            <a:lvl1pPr marL="0" indent="0">
              <a:buNone/>
              <a:defRPr lang="es-ES" sz="1800">
                <a:solidFill>
                  <a:schemeClr val="tx1"/>
                </a:solidFill>
              </a:defRPr>
            </a:lvl1pPr>
            <a:lvl2pPr>
              <a:defRPr lang="es-ES" sz="1200">
                <a:solidFill>
                  <a:schemeClr val="tx1"/>
                </a:solidFill>
              </a:defRPr>
            </a:lvl2pPr>
            <a:lvl3pPr>
              <a:defRPr lang="es-ES" sz="1200">
                <a:solidFill>
                  <a:schemeClr val="tx1"/>
                </a:solidFill>
              </a:defRPr>
            </a:lvl3pPr>
            <a:lvl4pPr>
              <a:defRPr lang="es-ES" sz="1200">
                <a:solidFill>
                  <a:schemeClr val="tx1"/>
                </a:solidFill>
              </a:defRPr>
            </a:lvl4pPr>
            <a:lvl5pPr>
              <a:defRPr lang="es-ES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4048759" y="1917065"/>
            <a:ext cx="7591799" cy="4297680"/>
          </a:xfrm>
        </p:spPr>
        <p:txBody>
          <a:bodyPr rtlCol="0">
            <a:normAutofit/>
          </a:bodyPr>
          <a:lstStyle>
            <a:lvl1pPr>
              <a:defRPr lang="es-ES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insertar una tabla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19083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lipse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Forma libre: Forma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15" name="Forma libre: Forma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es-ES" sz="1800">
                <a:solidFill>
                  <a:schemeClr val="tx1"/>
                </a:solidFill>
              </a:defRPr>
            </a:lvl1pPr>
            <a:lvl2pPr>
              <a:defRPr lang="es-ES" sz="1800">
                <a:solidFill>
                  <a:schemeClr val="tx1"/>
                </a:solidFill>
              </a:defRPr>
            </a:lvl2pPr>
            <a:lvl3pPr>
              <a:defRPr lang="es-ES" sz="1800">
                <a:solidFill>
                  <a:schemeClr val="tx1"/>
                </a:solidFill>
              </a:defRPr>
            </a:lvl3pPr>
            <a:lvl4pPr>
              <a:defRPr lang="es-ES" sz="1800">
                <a:solidFill>
                  <a:schemeClr val="tx1"/>
                </a:solidFill>
              </a:defRPr>
            </a:lvl4pPr>
            <a:lvl5pPr>
              <a:defRPr lang="es-ES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es-ES" sz="1800">
                <a:solidFill>
                  <a:schemeClr val="tx1"/>
                </a:solidFill>
              </a:defRPr>
            </a:lvl1pPr>
            <a:lvl2pPr>
              <a:defRPr lang="es-ES" sz="1800">
                <a:solidFill>
                  <a:schemeClr val="tx1"/>
                </a:solidFill>
              </a:defRPr>
            </a:lvl2pPr>
            <a:lvl3pPr>
              <a:defRPr lang="es-ES" sz="1800">
                <a:solidFill>
                  <a:schemeClr val="tx1"/>
                </a:solidFill>
              </a:defRPr>
            </a:lvl3pPr>
            <a:lvl4pPr>
              <a:defRPr lang="es-ES" sz="1800">
                <a:solidFill>
                  <a:schemeClr val="tx1"/>
                </a:solidFill>
              </a:defRPr>
            </a:lvl4pPr>
            <a:lvl5pPr>
              <a:defRPr lang="es-ES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60961"/>
            <a:ext cx="11090275" cy="1186560"/>
          </a:xfrm>
        </p:spPr>
        <p:txBody>
          <a:bodyPr rtlCol="0" anchor="t" anchorCtr="0">
            <a:noAutofit/>
          </a:bodyPr>
          <a:lstStyle>
            <a:lvl1pPr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C28186-3489-427F-79D0-B7844402362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1" y="1917064"/>
            <a:ext cx="11090275" cy="4297679"/>
          </a:xfrm>
        </p:spPr>
        <p:txBody>
          <a:bodyPr rtlCol="0">
            <a:normAutofit/>
          </a:bodyPr>
          <a:lstStyle>
            <a:lvl1pPr marL="0" indent="0">
              <a:buNone/>
              <a:defRPr lang="es-ES" sz="1800">
                <a:solidFill>
                  <a:schemeClr val="tx1"/>
                </a:solidFill>
              </a:defRPr>
            </a:lvl1pPr>
            <a:lvl2pPr>
              <a:defRPr lang="es-ES" sz="1800">
                <a:solidFill>
                  <a:schemeClr val="tx1"/>
                </a:solidFill>
              </a:defRPr>
            </a:lvl2pPr>
            <a:lvl3pPr>
              <a:defRPr lang="es-ES" sz="1800">
                <a:solidFill>
                  <a:schemeClr val="tx1"/>
                </a:solidFill>
              </a:defRPr>
            </a:lvl3pPr>
            <a:lvl4pPr>
              <a:defRPr lang="es-ES" sz="1800">
                <a:solidFill>
                  <a:schemeClr val="tx1"/>
                </a:solidFill>
              </a:defRPr>
            </a:lvl4pPr>
            <a:lvl5pPr>
              <a:defRPr lang="es-ES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008793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ipse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s-ES" sz="5400" dirty="0"/>
            </a:lvl1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lang="es-ES"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lang="es-ES"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lang="es-ES"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lang="es-ES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0" name="Marcador de posición de imagen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orma libre: Forma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rmAutofit/>
          </a:bodyPr>
          <a:lstStyle>
            <a:lvl1pPr algn="l">
              <a:lnSpc>
                <a:spcPct val="100000"/>
              </a:lnSpc>
              <a:defRPr lang="es-ES" sz="64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s-ES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 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orma lib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es-ES"/>
            </a:def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es-ES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es-ES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s-ES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6" r:id="rId3"/>
    <p:sldLayoutId id="2147483697" r:id="rId4"/>
    <p:sldLayoutId id="2147483703" r:id="rId5"/>
    <p:sldLayoutId id="2147483698" r:id="rId6"/>
    <p:sldLayoutId id="2147483704" r:id="rId7"/>
    <p:sldLayoutId id="2147483699" r:id="rId8"/>
    <p:sldLayoutId id="2147483700" r:id="rId9"/>
    <p:sldLayoutId id="2147483688" r:id="rId10"/>
    <p:sldLayoutId id="2147483701" r:id="rId11"/>
    <p:sldLayoutId id="2147483686" r:id="rId12"/>
    <p:sldLayoutId id="2147483685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020" y="662937"/>
            <a:ext cx="4624442" cy="5542025"/>
          </a:xfrm>
          <a:noFill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Presentación básica</a:t>
            </a:r>
          </a:p>
        </p:txBody>
      </p:sp>
      <p:pic>
        <p:nvPicPr>
          <p:cNvPr id="8" name="Marcador de posición de imagen 13" descr="Fondo digital de puntos de datos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>
          <a:xfrm>
            <a:off x="0" y="0"/>
            <a:ext cx="6267450" cy="6858000"/>
          </a:xfrm>
        </p:spPr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168405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BCA07C-1908-B1EB-82FA-EC63DAAF4C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Introducción</a:t>
            </a:r>
          </a:p>
          <a:p>
            <a:pPr rtl="0"/>
            <a:r>
              <a:rPr lang="es-ES"/>
              <a:t>Generar confianza</a:t>
            </a:r>
          </a:p>
          <a:p>
            <a:pPr rtl="0"/>
            <a:r>
              <a:rPr lang="es-ES"/>
              <a:t>Atraer al público</a:t>
            </a:r>
          </a:p>
          <a:p>
            <a:pPr rtl="0"/>
            <a:r>
              <a:rPr lang="es-ES"/>
              <a:t>Ayudas visuales</a:t>
            </a:r>
          </a:p>
          <a:p>
            <a:pPr rtl="0"/>
            <a:r>
              <a:rPr lang="es-ES"/>
              <a:t>Sugerencias finales y puntos de vista </a:t>
            </a:r>
          </a:p>
        </p:txBody>
      </p:sp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4045464"/>
            <a:ext cx="11115355" cy="2286000"/>
          </a:xfrm>
          <a:noFill/>
        </p:spPr>
        <p:txBody>
          <a:bodyPr rtlCol="0" anchor="ctr"/>
          <a:lstStyle>
            <a:defPPr>
              <a:defRPr lang="es-ES"/>
            </a:defPPr>
          </a:lstStyle>
          <a:p>
            <a:pPr rtl="0"/>
            <a:r>
              <a:rPr lang="es-ES"/>
              <a:t>El poder de la comunicación</a:t>
            </a:r>
          </a:p>
        </p:txBody>
      </p:sp>
      <p:pic>
        <p:nvPicPr>
          <p:cNvPr id="11" name="Marcador de posición de imagen 15" descr="Fondo digital de puntos de datos">
            <a:extLst>
              <a:ext uri="{FF2B5EF4-FFF2-40B4-BE49-F238E27FC236}">
                <a16:creationId xmlns:a16="http://schemas.microsoft.com/office/drawing/2014/main" id="{A496DCE5-C34A-22C2-A9D8-E90DFC8CE8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196900"/>
            <a:ext cx="4159160" cy="3155900"/>
          </a:xfrm>
          <a:noFill/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Superar el nerviosismo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271" y="3505200"/>
            <a:ext cx="3526889" cy="2352356"/>
          </a:xfrm>
          <a:noFill/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Estrategias para aumentar la confianza</a:t>
            </a:r>
          </a:p>
        </p:txBody>
      </p:sp>
      <p:pic>
        <p:nvPicPr>
          <p:cNvPr id="7" name="Marcador de posición de imagen 17" descr="Una persona dibujando sobre una pizarra">
            <a:extLst>
              <a:ext uri="{FF2B5EF4-FFF2-40B4-BE49-F238E27FC236}">
                <a16:creationId xmlns:a16="http://schemas.microsoft.com/office/drawing/2014/main" id="{58104626-8F66-9575-5E49-2907EACF11C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78049" y="788713"/>
            <a:ext cx="5132388" cy="5132388"/>
          </a:xfrm>
          <a:solidFill>
            <a:schemeClr val="accent5"/>
          </a:solidFill>
        </p:spPr>
      </p:pic>
    </p:spTree>
    <p:extLst>
      <p:ext uri="{BB962C8B-B14F-4D97-AF65-F5344CB8AC3E}">
        <p14:creationId xmlns:p14="http://schemas.microsoft.com/office/powerpoint/2010/main" val="1388592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4"/>
            <a:ext cx="7960421" cy="145021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Atraer al público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6744DD-5BC8-42C8-4313-13CE95ED5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343" y="2103039"/>
            <a:ext cx="7838757" cy="39796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Mantenga el contacto visual con el público para crear una sensación de intimidad e implicación</a:t>
            </a:r>
          </a:p>
          <a:p>
            <a:pPr rtl="0"/>
            <a:r>
              <a:rPr lang="es-ES" dirty="0"/>
              <a:t>Integre anécdotas en su presentación utilizando narraciones que hagan que su mensaje sea memorable e impactante.</a:t>
            </a:r>
          </a:p>
          <a:p>
            <a:pPr rtl="0"/>
            <a:r>
              <a:rPr lang="es-ES" dirty="0"/>
              <a:t>Fomente las preguntas y ofrezca respuestas reflexivas para fomentar la participación del público.</a:t>
            </a:r>
          </a:p>
          <a:p>
            <a:pPr rtl="0"/>
            <a:r>
              <a:rPr lang="es-ES" dirty="0"/>
              <a:t>Use sondeos o encuestas en directo para recopilar opiniones del público, promover la participación y asegurarse de que el público se sienta implicado</a:t>
            </a:r>
          </a:p>
        </p:txBody>
      </p: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7" descr="Fondo digital de puntos de datos">
            <a:extLst>
              <a:ext uri="{FF2B5EF4-FFF2-40B4-BE49-F238E27FC236}">
                <a16:creationId xmlns:a16="http://schemas.microsoft.com/office/drawing/2014/main" id="{1358CD3B-43A8-5BF7-2E60-B0563F068D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8A84D4AF-8D29-5A55-F3F8-1E928E3B0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76680"/>
            <a:ext cx="9144000" cy="228600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Selección de ayudas visuales</a:t>
            </a: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6450744F-A4B6-FD90-F6DA-4EF9A192E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99840"/>
            <a:ext cx="9144000" cy="228600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Mejore su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855514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Técnicas de presentación efectivas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BE7E655-DBBE-1E38-D543-EB34028F2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259388" cy="399565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Se trata de una herramienta eficaz para hablar en público. Implica variar el timbre, el tono y el volumen para transmitir emociones, enfatizar puntos y mantener el interés. </a:t>
            </a:r>
          </a:p>
          <a:p>
            <a:pPr lvl="1" rtl="0"/>
            <a:r>
              <a:rPr lang="es-ES" dirty="0"/>
              <a:t>Variación de tono</a:t>
            </a:r>
          </a:p>
          <a:p>
            <a:pPr lvl="1" rtl="0"/>
            <a:r>
              <a:rPr lang="es-ES" dirty="0"/>
              <a:t>Inflexión del tono</a:t>
            </a:r>
          </a:p>
          <a:p>
            <a:pPr lvl="1" rtl="0"/>
            <a:r>
              <a:rPr lang="es-ES" dirty="0"/>
              <a:t>Control de volumen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845A03A5-6D4D-7072-B3BD-F2DA38CADEB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05540" y="2097175"/>
            <a:ext cx="5435600" cy="399565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El lenguaje corporal eficaz mejora su mensaje, haciéndolo más impactante y memorable.</a:t>
            </a:r>
          </a:p>
          <a:p>
            <a:pPr lvl="1" rtl="0"/>
            <a:r>
              <a:rPr lang="es-ES"/>
              <a:t>Contacto visual significativo</a:t>
            </a:r>
          </a:p>
          <a:p>
            <a:pPr lvl="1" rtl="0"/>
            <a:r>
              <a:rPr lang="es-ES"/>
              <a:t>Gestos intencionados</a:t>
            </a:r>
          </a:p>
          <a:p>
            <a:pPr lvl="1" rtl="0"/>
            <a:r>
              <a:rPr lang="es-ES"/>
              <a:t>Mantener una buena postura</a:t>
            </a:r>
          </a:p>
          <a:p>
            <a:pPr lvl="1" rtl="0"/>
            <a:r>
              <a:rPr lang="es-ES"/>
              <a:t>Controle sus expresiones</a:t>
            </a:r>
          </a:p>
        </p:txBody>
      </p:sp>
    </p:spTree>
    <p:extLst>
      <p:ext uri="{BB962C8B-B14F-4D97-AF65-F5344CB8AC3E}">
        <p14:creationId xmlns:p14="http://schemas.microsoft.com/office/powerpoint/2010/main" val="23301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Navegar por las sesiones de Preguntas y respuestas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BE7E655-DBBE-1E38-D543-EB34028F2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 rtlCol="0"/>
          <a:lstStyle>
            <a:defPPr>
              <a:defRPr lang="es-ES"/>
            </a:defPPr>
          </a:lstStyle>
          <a:p>
            <a:pPr lvl="1" rtl="0"/>
            <a:r>
              <a:rPr lang="es-ES"/>
              <a:t>Conozca el material con antelación</a:t>
            </a:r>
          </a:p>
          <a:p>
            <a:pPr lvl="1" rtl="0"/>
            <a:r>
              <a:rPr lang="es-ES"/>
              <a:t>Anticipar preguntas comunes</a:t>
            </a:r>
          </a:p>
          <a:p>
            <a:pPr lvl="1" rtl="0"/>
            <a:r>
              <a:rPr lang="es-ES"/>
              <a:t>Ensaye sus respuestas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845A03A5-6D4D-7072-B3BD-F2DA38CADEB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05540" y="2097175"/>
            <a:ext cx="5243510" cy="399565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Mantener la compostura durante la sesión de Preguntas y respuestas es esencial para proyectar confianza y autoridad. Tenga en cuenta los siguientes consejos para mantener la compostura:</a:t>
            </a:r>
          </a:p>
          <a:p>
            <a:pPr lvl="1" rtl="0"/>
            <a:r>
              <a:rPr lang="es-ES" dirty="0"/>
              <a:t>Permanecer tranquilo</a:t>
            </a:r>
          </a:p>
          <a:p>
            <a:pPr lvl="1" rtl="0"/>
            <a:r>
              <a:rPr lang="es-ES" dirty="0"/>
              <a:t>Escuchar activamente</a:t>
            </a:r>
          </a:p>
          <a:p>
            <a:pPr lvl="1" rtl="0"/>
            <a:r>
              <a:rPr lang="es-ES" dirty="0"/>
              <a:t>Pausar y reflexionar</a:t>
            </a:r>
          </a:p>
          <a:p>
            <a:pPr lvl="1" rtl="0"/>
            <a:r>
              <a:rPr lang="es-ES" dirty="0"/>
              <a:t>Mantenga el contacto visual</a:t>
            </a:r>
          </a:p>
        </p:txBody>
      </p:sp>
    </p:spTree>
    <p:extLst>
      <p:ext uri="{BB962C8B-B14F-4D97-AF65-F5344CB8AC3E}">
        <p14:creationId xmlns:p14="http://schemas.microsoft.com/office/powerpoint/2010/main" val="3353460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21106B59-80B8-CEED-0BCA-BC3F80A85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73C2F317-81E4-3678-2FF2-495B3A95470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A7C6D33A-37B7-D2C4-2C1C-6D5253D0D480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" name="Forma libre 8">
              <a:extLst>
                <a:ext uri="{FF2B5EF4-FFF2-40B4-BE49-F238E27FC236}">
                  <a16:creationId xmlns:a16="http://schemas.microsoft.com/office/drawing/2014/main" id="{18145A95-72C3-9BFC-32D2-908F235E389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4" y="196900"/>
            <a:ext cx="4899628" cy="2331490"/>
          </a:xfrm>
          <a:noFill/>
        </p:spPr>
        <p:txBody>
          <a:bodyPr rtlCol="0" anchor="b"/>
          <a:lstStyle>
            <a:defPPr>
              <a:defRPr lang="es-ES"/>
            </a:defPPr>
          </a:lstStyle>
          <a:p>
            <a:pPr rtl="0"/>
            <a:r>
              <a:rPr lang="es-ES"/>
              <a:t>Impacto en el habla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2500" y="2827209"/>
            <a:ext cx="4548102" cy="3442144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Su capacidad de comunicarse de forma eficaz dejará un impacto duradero en el público</a:t>
            </a:r>
          </a:p>
          <a:p>
            <a:pPr rtl="0"/>
            <a:r>
              <a:rPr lang="es-ES" dirty="0"/>
              <a:t>Comunicarse eficazmente implica no solo transmitir un mensaje, sino también resonar con las experiencias, valores y emociones de quienes escuchan.</a:t>
            </a:r>
          </a:p>
        </p:txBody>
      </p:sp>
      <p:pic>
        <p:nvPicPr>
          <p:cNvPr id="20" name="Marcador de posición de imagen 19" descr="Un primer plano de un grafo">
            <a:extLst>
              <a:ext uri="{FF2B5EF4-FFF2-40B4-BE49-F238E27FC236}">
                <a16:creationId xmlns:a16="http://schemas.microsoft.com/office/drawing/2014/main" id="{A7019768-5E2A-F9D1-62D6-EC7C5F0BBE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/>
        </p:blipFill>
        <p:spPr>
          <a:xfrm>
            <a:off x="6095588" y="0"/>
            <a:ext cx="6095998" cy="6858000"/>
          </a:xfr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5C4A7DC2-42C3-FDDF-02BF-9598D75A6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523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1"/>
            <a:ext cx="11090275" cy="1237360"/>
          </a:xfrm>
          <a:noFill/>
        </p:spPr>
        <p:txBody>
          <a:bodyPr rtlCol="0" anchor="t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Presentación dinámica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3720" y="1917065"/>
            <a:ext cx="3065780" cy="4297680"/>
          </a:xfrm>
          <a:noFill/>
        </p:spPr>
        <p:txBody>
          <a:bodyPr vert="horz" lIns="0" tIns="0" rIns="91440" bIns="45720" rtlCol="0" anchor="t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Aprenda a infundir energía en su presentación para dejar una impresión duradera</a:t>
            </a:r>
          </a:p>
          <a:p>
            <a:pPr rtl="0"/>
            <a:r>
              <a:rPr lang="es-ES" dirty="0"/>
              <a:t>Uno de los objetivos de una comunicación eficaz es motivar al público.</a:t>
            </a:r>
          </a:p>
        </p:txBody>
      </p:sp>
      <p:graphicFrame>
        <p:nvGraphicFramePr>
          <p:cNvPr id="16" name="Marcador de posición de la tabla 2">
            <a:extLst>
              <a:ext uri="{FF2B5EF4-FFF2-40B4-BE49-F238E27FC236}">
                <a16:creationId xmlns:a16="http://schemas.microsoft.com/office/drawing/2014/main" id="{1904F965-D30E-5A83-B17B-7D030326E77B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615090153"/>
              </p:ext>
            </p:extLst>
          </p:nvPr>
        </p:nvGraphicFramePr>
        <p:xfrm>
          <a:off x="4048125" y="1917700"/>
          <a:ext cx="7601960" cy="429767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324225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838325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220210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669277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noProof="0" dirty="0"/>
                        <a:t>Métrico</a:t>
                      </a:r>
                      <a:endParaRPr lang="es-ES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noProof="0" dirty="0"/>
                        <a:t>Medida</a:t>
                      </a:r>
                      <a:endParaRPr lang="es-ES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noProof="0" dirty="0"/>
                        <a:t>Objetivo</a:t>
                      </a:r>
                      <a:endParaRPr lang="es-ES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noProof="0" dirty="0"/>
                        <a:t>Real</a:t>
                      </a:r>
                      <a:endParaRPr lang="es-ES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69277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noProof="0" dirty="0"/>
                        <a:t>Asistencia del público</a:t>
                      </a:r>
                      <a:endParaRPr lang="es-ES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noProof="0" dirty="0"/>
                        <a:t>N.º de asistentes</a:t>
                      </a:r>
                      <a:endParaRPr lang="es-ES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noProof="0" dirty="0"/>
                        <a:t>150</a:t>
                      </a:r>
                      <a:endParaRPr lang="es-ES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noProof="0" dirty="0"/>
                        <a:t>120</a:t>
                      </a:r>
                      <a:endParaRPr lang="es-ES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69277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noProof="0" dirty="0"/>
                        <a:t>Duración de la interacción</a:t>
                      </a:r>
                      <a:endParaRPr lang="es-ES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noProof="0" dirty="0"/>
                        <a:t>Minutos</a:t>
                      </a:r>
                      <a:endParaRPr lang="es-ES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noProof="0" dirty="0"/>
                        <a:t>60</a:t>
                      </a:r>
                      <a:endParaRPr lang="es-ES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noProof="0" dirty="0"/>
                        <a:t>75</a:t>
                      </a:r>
                      <a:endParaRPr lang="es-ES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669277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noProof="0" dirty="0"/>
                        <a:t>Interacción de Preguntas y respuestas</a:t>
                      </a:r>
                      <a:endParaRPr lang="es-ES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noProof="0" dirty="0"/>
                        <a:t>N.º de preguntas</a:t>
                      </a:r>
                      <a:endParaRPr lang="es-ES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noProof="0" dirty="0"/>
                        <a:t>10</a:t>
                      </a:r>
                      <a:endParaRPr lang="es-ES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noProof="0" dirty="0"/>
                        <a:t>15</a:t>
                      </a:r>
                      <a:endParaRPr lang="es-ES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69277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noProof="0" dirty="0"/>
                        <a:t>Comentarios positivos</a:t>
                      </a:r>
                      <a:endParaRPr lang="es-ES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noProof="0" dirty="0"/>
                        <a:t>Porcentaje (%)</a:t>
                      </a:r>
                      <a:endParaRPr lang="es-ES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noProof="0" dirty="0"/>
                        <a:t>90</a:t>
                      </a:r>
                      <a:endParaRPr lang="es-ES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noProof="0" dirty="0"/>
                        <a:t>95</a:t>
                      </a:r>
                      <a:endParaRPr lang="es-ES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951294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noProof="0" dirty="0"/>
                        <a:t>Tasa de retención de información</a:t>
                      </a:r>
                      <a:endParaRPr lang="es-ES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noProof="0" dirty="0"/>
                        <a:t>Porcentaje (%)</a:t>
                      </a:r>
                      <a:endParaRPr lang="es-ES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noProof="0" dirty="0"/>
                        <a:t>80</a:t>
                      </a:r>
                      <a:endParaRPr lang="es-ES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noProof="0" dirty="0"/>
                        <a:t>85</a:t>
                      </a:r>
                      <a:endParaRPr lang="es-ES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40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8315"/>
            <a:ext cx="11090274" cy="1332000"/>
          </a:xfrm>
          <a:noFill/>
        </p:spPr>
        <p:txBody>
          <a:bodyPr lIns="0"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Sugerencias finales y puntos de vista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1965095"/>
            <a:ext cx="5435600" cy="3995650"/>
          </a:xfrm>
          <a:noFill/>
        </p:spPr>
        <p:txBody>
          <a:bodyPr vert="horz" lIns="0" tIns="45720" rIns="91440" bIns="45720" rtlCol="0" anchor="t">
            <a:normAutofit fontScale="92500" lnSpcReduction="10000"/>
          </a:bodyPr>
          <a:lstStyle>
            <a:defPPr>
              <a:defRPr lang="es-ES"/>
            </a:defPPr>
          </a:lstStyle>
          <a:p>
            <a:pPr rtl="0"/>
            <a:r>
              <a:rPr lang="es-ES"/>
              <a:t>Ensayo coherente</a:t>
            </a:r>
          </a:p>
          <a:p>
            <a:pPr lvl="1" rtl="0"/>
            <a:r>
              <a:rPr lang="es-ES"/>
              <a:t>Reforzar la familiaridad</a:t>
            </a:r>
          </a:p>
          <a:p>
            <a:pPr rtl="0"/>
            <a:r>
              <a:rPr lang="es-ES"/>
              <a:t>Refinar el estilo de entrega</a:t>
            </a:r>
          </a:p>
          <a:p>
            <a:pPr lvl="1" rtl="0"/>
            <a:r>
              <a:rPr lang="es-ES"/>
              <a:t>Ritmo, tono y énfasis</a:t>
            </a:r>
          </a:p>
          <a:p>
            <a:pPr rtl="0"/>
            <a:r>
              <a:rPr lang="es-ES"/>
              <a:t>Tiempos y transiciones</a:t>
            </a:r>
          </a:p>
          <a:p>
            <a:pPr lvl="1" rtl="0"/>
            <a:r>
              <a:rPr lang="es-ES"/>
              <a:t>Objetivo para una entrega profesional y sin fisuras</a:t>
            </a:r>
          </a:p>
          <a:p>
            <a:pPr rtl="0"/>
            <a:r>
              <a:rPr lang="es-ES"/>
              <a:t>Practicar con público</a:t>
            </a:r>
          </a:p>
          <a:p>
            <a:pPr lvl="1" rtl="0"/>
            <a:r>
              <a:rPr lang="es-ES"/>
              <a:t>Apunte a compañeros para escuchar y proporcionar comentarios</a:t>
            </a:r>
          </a:p>
          <a:p>
            <a:pPr lvl="1" rtl="0"/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1305" y="1965095"/>
            <a:ext cx="5339397" cy="3995650"/>
          </a:xfrm>
          <a:noFill/>
        </p:spPr>
        <p:txBody>
          <a:bodyPr lIns="0"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Buscar comentarios</a:t>
            </a:r>
          </a:p>
          <a:p>
            <a:pPr rtl="0"/>
            <a:r>
              <a:rPr lang="es-ES"/>
              <a:t>Reflejar el rendimiento</a:t>
            </a:r>
          </a:p>
          <a:p>
            <a:pPr rtl="0"/>
            <a:r>
              <a:rPr lang="es-ES"/>
              <a:t>Explorar nuevas técnicas</a:t>
            </a:r>
          </a:p>
          <a:p>
            <a:pPr rtl="0"/>
            <a:r>
              <a:rPr lang="es-ES"/>
              <a:t>Establecer objetivos personales</a:t>
            </a:r>
          </a:p>
          <a:p>
            <a:pPr rtl="0"/>
            <a:r>
              <a:rPr lang="es-ES"/>
              <a:t>Iterar y adaptarse</a:t>
            </a:r>
          </a:p>
        </p:txBody>
      </p:sp>
    </p:spTree>
    <p:extLst>
      <p:ext uri="{BB962C8B-B14F-4D97-AF65-F5344CB8AC3E}">
        <p14:creationId xmlns:p14="http://schemas.microsoft.com/office/powerpoint/2010/main" val="118667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60961"/>
            <a:ext cx="11090275" cy="1186560"/>
          </a:xfrm>
          <a:noFill/>
        </p:spPr>
        <p:txBody>
          <a:bodyPr rtlCol="0" anchor="t"/>
          <a:lstStyle>
            <a:defPPr>
              <a:defRPr lang="es-ES"/>
            </a:defPPr>
          </a:lstStyle>
          <a:p>
            <a:pPr rtl="0"/>
            <a:r>
              <a:rPr lang="es-ES"/>
              <a:t>Métricas de interacción de habla</a:t>
            </a:r>
          </a:p>
        </p:txBody>
      </p:sp>
      <p:graphicFrame>
        <p:nvGraphicFramePr>
          <p:cNvPr id="13" name="Marcador de posición de tabla 3">
            <a:extLst>
              <a:ext uri="{FF2B5EF4-FFF2-40B4-BE49-F238E27FC236}">
                <a16:creationId xmlns:a16="http://schemas.microsoft.com/office/drawing/2014/main" id="{24F0E16C-0C56-89A4-2FE9-7D5EBE3963C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67261769"/>
              </p:ext>
            </p:extLst>
          </p:nvPr>
        </p:nvGraphicFramePr>
        <p:xfrm>
          <a:off x="550863" y="1917700"/>
          <a:ext cx="11090276" cy="42976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032713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3391382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1851949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1814232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71628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dirty="0"/>
                        <a:t>Factor de impacto</a:t>
                      </a:r>
                      <a:endParaRPr lang="es-ES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/>
                        <a:t>Medida</a:t>
                      </a:r>
                      <a:endParaRPr lang="es-ES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/>
                        <a:t>Objetivo</a:t>
                      </a:r>
                      <a:endParaRPr lang="es-ES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/>
                        <a:t>Logrado</a:t>
                      </a:r>
                      <a:endParaRPr lang="es-ES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71628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dirty="0"/>
                        <a:t>Interacción del público</a:t>
                      </a:r>
                      <a:endParaRPr lang="es-ES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/>
                        <a:t>Porcentaje (%)</a:t>
                      </a:r>
                      <a:endParaRPr lang="es-ES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/>
                        <a:t>85</a:t>
                      </a:r>
                      <a:endParaRPr lang="es-ES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/>
                        <a:t>88</a:t>
                      </a:r>
                      <a:endParaRPr lang="es-ES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71628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/>
                        <a:t>Retención de conocimientos</a:t>
                      </a:r>
                      <a:endParaRPr lang="es-ES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dirty="0"/>
                        <a:t>Porcentaje (%)</a:t>
                      </a:r>
                      <a:endParaRPr lang="es-ES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/>
                        <a:t>75</a:t>
                      </a:r>
                      <a:endParaRPr lang="es-ES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/>
                        <a:t>80</a:t>
                      </a:r>
                      <a:endParaRPr lang="es-ES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71628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dirty="0"/>
                        <a:t>Encuestas posteriores a la presentación</a:t>
                      </a:r>
                      <a:endParaRPr lang="es-ES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dirty="0"/>
                        <a:t>Calificación media</a:t>
                      </a:r>
                      <a:endParaRPr lang="es-ES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/>
                        <a:t>4,2</a:t>
                      </a:r>
                      <a:endParaRPr lang="es-ES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/>
                        <a:t>4,5</a:t>
                      </a:r>
                      <a:endParaRPr lang="es-ES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71628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/>
                        <a:t>Tasa de referencia</a:t>
                      </a:r>
                      <a:endParaRPr lang="es-ES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/>
                        <a:t>Porcentaje (%)</a:t>
                      </a:r>
                      <a:endParaRPr lang="es-ES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dirty="0"/>
                        <a:t>10</a:t>
                      </a:r>
                      <a:endParaRPr lang="es-ES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dirty="0"/>
                        <a:t>12</a:t>
                      </a:r>
                      <a:endParaRPr lang="es-ES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71628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/>
                        <a:t>Oportunidades de colaboración</a:t>
                      </a:r>
                      <a:endParaRPr lang="es-ES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/>
                        <a:t>N.º de oportunidades</a:t>
                      </a:r>
                      <a:endParaRPr lang="es-ES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/>
                        <a:t>8</a:t>
                      </a:r>
                      <a:endParaRPr lang="es-ES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b="0" dirty="0"/>
                        <a:t>10</a:t>
                      </a:r>
                      <a:endParaRPr lang="es-ES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9465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36" y="549274"/>
            <a:ext cx="5179330" cy="2841829"/>
          </a:xfrm>
          <a:noFill/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Gracias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37" y="3646704"/>
            <a:ext cx="5179330" cy="2706160"/>
          </a:xfrm>
          <a:noFill/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Brita Tamm</a:t>
            </a:r>
          </a:p>
          <a:p>
            <a:pPr rtl="0"/>
            <a:r>
              <a:rPr lang="es-ES"/>
              <a:t>502-555-0152</a:t>
            </a:r>
          </a:p>
          <a:p>
            <a:pPr rtl="0"/>
            <a:r>
              <a:rPr lang="es-ES"/>
              <a:t>brita@firstupconsultants.com</a:t>
            </a:r>
          </a:p>
          <a:p>
            <a:pPr rtl="0"/>
            <a:r>
              <a:rPr lang="es-ES"/>
              <a:t>www.firstupconsultants.com</a:t>
            </a:r>
          </a:p>
        </p:txBody>
      </p:sp>
      <p:pic>
        <p:nvPicPr>
          <p:cNvPr id="25" name="Marcador de posición de imagen 24" descr="Primer plano de una red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>
          <a:xfrm>
            <a:off x="5926138" y="549275"/>
            <a:ext cx="5654675" cy="5788025"/>
          </a:xfrm>
        </p:spPr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713516_win32_SL_V10" id="{E46C2CD7-2554-477F-A8C8-CFF94EB09A28}" vid="{537905CE-FEA4-4496-8A76-17AAC9F79BF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491</Words>
  <Application>Microsoft Office PowerPoint</Application>
  <PresentationFormat>Panorámica</PresentationFormat>
  <Paragraphs>123</Paragraphs>
  <Slides>13</Slides>
  <Notes>13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3DFloatVTI</vt:lpstr>
      <vt:lpstr>Presentación básica</vt:lpstr>
      <vt:lpstr>Agenda</vt:lpstr>
      <vt:lpstr>El poder de la comunicación</vt:lpstr>
      <vt:lpstr>Superar el nerviosismo</vt:lpstr>
      <vt:lpstr>Atraer al público</vt:lpstr>
      <vt:lpstr>Selección de ayudas visuales</vt:lpstr>
      <vt:lpstr>Técnicas de presentación efectivas</vt:lpstr>
      <vt:lpstr>Navegar por las sesiones de Preguntas y respuestas</vt:lpstr>
      <vt:lpstr>Impacto en el habla</vt:lpstr>
      <vt:lpstr>Presentación dinámica</vt:lpstr>
      <vt:lpstr>Sugerencias finales y puntos de vista</vt:lpstr>
      <vt:lpstr>Métricas de interacción de habla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2026-10-04T23:07:54Z</dcterms:created>
  <dcterms:modified xsi:type="dcterms:W3CDTF">2026-10-04T23:08:06Z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